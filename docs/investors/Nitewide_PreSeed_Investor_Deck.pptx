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72e9542754489a" /><Relationship Type="http://schemas.openxmlformats.org/officeDocument/2006/relationships/extended-properties" Target="/docProps/app.xml" Id="R1c3d640d7791454b" /><Relationship Type="http://schemas.openxmlformats.org/officeDocument/2006/relationships/officeDocument" Target="/ppt/presentation.xml" Id="R0e0de3fad5ae4402" /></Relationships>
</file>

<file path=ppt/presentation.xml><?xml version="1.0" encoding="utf-8"?>
<p:presentation xmlns:p="http://schemas.openxmlformats.org/presentationml/2006/main">
  <p:sldMasterIdLst>
    <p:sldMasterId xmlns:r="http://schemas.openxmlformats.org/officeDocument/2006/relationships" id="2147483648" r:id="R9d4896a8978d4d13"/>
  </p:sldMasterIdLst>
  <p:notesMasterIdLst>
    <p:notesMasterId xmlns:r="http://schemas.openxmlformats.org/officeDocument/2006/relationships" r:id="R110d8fbec8644c55"/>
  </p:notesMasterIdLst>
  <p:sldIdLst>
    <p:sldId xmlns:r="http://schemas.openxmlformats.org/officeDocument/2006/relationships" id="256" r:id="R77f277f21e824e54"/>
    <p:sldId xmlns:r="http://schemas.openxmlformats.org/officeDocument/2006/relationships" id="257" r:id="R39bfd9e241154c0e"/>
    <p:sldId xmlns:r="http://schemas.openxmlformats.org/officeDocument/2006/relationships" id="258" r:id="R7e0a0370e3fb4b52"/>
    <p:sldId xmlns:r="http://schemas.openxmlformats.org/officeDocument/2006/relationships" id="259" r:id="Rf41824c05d1d451e"/>
    <p:sldId xmlns:r="http://schemas.openxmlformats.org/officeDocument/2006/relationships" id="260" r:id="R31b065901be44694"/>
    <p:sldId xmlns:r="http://schemas.openxmlformats.org/officeDocument/2006/relationships" id="261" r:id="Ra10791e6c5a741d4"/>
    <p:sldId xmlns:r="http://schemas.openxmlformats.org/officeDocument/2006/relationships" id="262" r:id="R909a10fb2dbc49ff"/>
    <p:sldId xmlns:r="http://schemas.openxmlformats.org/officeDocument/2006/relationships" id="263" r:id="Rcb095d2a3a3744ad"/>
    <p:sldId xmlns:r="http://schemas.openxmlformats.org/officeDocument/2006/relationships" id="264" r:id="R73979708aa4d441f"/>
    <p:sldId xmlns:r="http://schemas.openxmlformats.org/officeDocument/2006/relationships" id="265" r:id="R87297f4e868948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d7b935d2d54462" /><Relationship Type="http://schemas.openxmlformats.org/officeDocument/2006/relationships/slideMaster" Target="/ppt/slideMasters/slideMaster1.xml" Id="R9d4896a8978d4d13" /><Relationship Type="http://schemas.openxmlformats.org/officeDocument/2006/relationships/notesMaster" Target="/ppt/notesMasters/notesMaster1.xml" Id="R110d8fbec8644c55" /><Relationship Type="http://schemas.openxmlformats.org/officeDocument/2006/relationships/presProps" Target="/ppt/presProps.xml" Id="R005fd577c9f74ec3" /><Relationship Type="http://schemas.openxmlformats.org/officeDocument/2006/relationships/tableStyles" Target="/ppt/tableStyles.xml" Id="R431f89d6d3b349f1" /><Relationship Type="http://schemas.openxmlformats.org/officeDocument/2006/relationships/slide" Target="/ppt/slides/slide1.xml" Id="R77f277f21e824e54" /><Relationship Type="http://schemas.openxmlformats.org/officeDocument/2006/relationships/slide" Target="/ppt/slides/slide2.xml" Id="R39bfd9e241154c0e" /><Relationship Type="http://schemas.openxmlformats.org/officeDocument/2006/relationships/slide" Target="/ppt/slides/slide3.xml" Id="R7e0a0370e3fb4b52" /><Relationship Type="http://schemas.openxmlformats.org/officeDocument/2006/relationships/slide" Target="/ppt/slides/slide4.xml" Id="Rf41824c05d1d451e" /><Relationship Type="http://schemas.openxmlformats.org/officeDocument/2006/relationships/slide" Target="/ppt/slides/slide5.xml" Id="R31b065901be44694" /><Relationship Type="http://schemas.openxmlformats.org/officeDocument/2006/relationships/slide" Target="/ppt/slides/slide6.xml" Id="Ra10791e6c5a741d4" /><Relationship Type="http://schemas.openxmlformats.org/officeDocument/2006/relationships/slide" Target="/ppt/slides/slide7.xml" Id="R909a10fb2dbc49ff" /><Relationship Type="http://schemas.openxmlformats.org/officeDocument/2006/relationships/slide" Target="/ppt/slides/slide8.xml" Id="Rcb095d2a3a3744ad" /><Relationship Type="http://schemas.openxmlformats.org/officeDocument/2006/relationships/slide" Target="/ppt/slides/slide9.xml" Id="R73979708aa4d441f" /><Relationship Type="http://schemas.openxmlformats.org/officeDocument/2006/relationships/slide" Target="/ppt/slides/slide10.xml" Id="R87297f4e868948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c77b696a1542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fa95c399cb405c" /><Relationship Type="http://schemas.openxmlformats.org/officeDocument/2006/relationships/notesMaster" Target="/ppt/notesMasters/notesMaster1.xml" Id="R752fb6e9625d48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7f028a48ca4d6e" /><Relationship Type="http://schemas.openxmlformats.org/officeDocument/2006/relationships/notesMaster" Target="/ppt/notesMasters/notesMaster1.xml" Id="R8920bfe62f6145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d08b2eb61f4fc3" /><Relationship Type="http://schemas.openxmlformats.org/officeDocument/2006/relationships/notesMaster" Target="/ppt/notesMasters/notesMaster1.xml" Id="R9fa703aee3894a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35b0af17e448cc" /><Relationship Type="http://schemas.openxmlformats.org/officeDocument/2006/relationships/notesMaster" Target="/ppt/notesMasters/notesMaster1.xml" Id="R5c58212864f440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c73f82b660431d" /><Relationship Type="http://schemas.openxmlformats.org/officeDocument/2006/relationships/notesMaster" Target="/ppt/notesMasters/notesMaster1.xml" Id="R8b8b182da51b47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4eb118d2b345b9" /><Relationship Type="http://schemas.openxmlformats.org/officeDocument/2006/relationships/notesMaster" Target="/ppt/notesMasters/notesMaster1.xml" Id="Rcaa37586d8b848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863b627faf48ba" /><Relationship Type="http://schemas.openxmlformats.org/officeDocument/2006/relationships/notesMaster" Target="/ppt/notesMasters/notesMaster1.xml" Id="R44b0996a0aff46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c0b97cc3db49d9" /><Relationship Type="http://schemas.openxmlformats.org/officeDocument/2006/relationships/notesMaster" Target="/ppt/notesMasters/notesMaster1.xml" Id="R217964caf1334f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53f6406a8d40cb" /><Relationship Type="http://schemas.openxmlformats.org/officeDocument/2006/relationships/notesMaster" Target="/ppt/notesMasters/notesMaster1.xml" Id="R705600de81174a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d56cbf45944a90" /><Relationship Type="http://schemas.openxmlformats.org/officeDocument/2006/relationships/notesMaster" Target="/ppt/notesMasters/notesMaster1.xml" Id="Rc33e7e696c2345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Nitewide is a pre-seed, pre-revenue nightlife commerce platform. Customer, business and admin workflows run in a local demo. Repeat-booking impact is a product thesis, not a demonstrated growth result. The background is an illustrative AI-generated nightlife scene, not a specific venue or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management product hypotheses based on Nitewide planning, not results from a completed customer study. The pilot must measure where current tools fail, whether customers value cross-venue connections, and whether integrated operations improve conversion, staff effort or repeat purchases. Competitors already offer many ticketing and referral tools; fragmentation is not claimed as universal.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demo supports event-scoped referral links, attributed purchases and guestlist requests, per-person commission snapshots, individual QR credentials and a customer Connections feed that can show a referrer’s events across venues. Role-scoped business access does not grant one venue access to another venue’s customer data. Retention and repeat conversion are intended benefits, not measured results. Dedicated live door operations and production payment reconciliation remain launch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reflects the local application and project documentation as of September 23, 2026. The three applications exist and the API stores demo orders, QR credentials, referral attribution and commission snapshots. Automated tests and local PostgreSQL workflow tests are engineering evidence, not commercial traction. No live customer/revenue metrics, signed partner counts, conversion results or retention claims have been provided. Payments, production onboarding, provider messaging, settlement and operational risk readiness remain prerequisites for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Go-to-market proposal, not an assertion of current venue contracts or customer demand. Prioritize venues with recurring events and referrers active across more than one authorized venue. Proposed pilot recruitment target is 10–20 venues; validate feasibility through founder-led outreach before budgeting scale. Onboarding should cover venue identity, offerings, employees/managers, promoters, guestlist policies, fee disclosure and door operations. Promoter distribution may lower acquisition cost but that has not been proven. Measure venue activation/retention, checkout conversion, cost per acquired transacting customer, 60-day repeat purchase, refunds/disputes and contribution after actual variable costs. Define numeric expansion thresholds after pilot baselines instead of claiming invented retention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comparison reflects public materials reviewed September 23, 2026. Yes in Nitewide means working local demo, not production-ready; In dev includes proposed future work, not a delivery commitment. A dash means the exact capability was not verified, not proof of absence. Posh supports public/private commission offers, percentage or fixed rewards, and individual referrer sales/customer reporting, so individualized commissions are correctly marked Yes. Nitewide differentiates through a combined workflow: reusable cross-venue customer/referrer connections and guestlist auto-claim, with competitive fee targets and minimum contribution implemented in the local demo. The hard floor can override standard or competitor fees. Cross-venue rebooking automation is planned. Exact implementation parity is not implied by Yes. Rebooking automation means consent-based messages linked to an existing connection and eligible future events, not generic marketing campaigns; it is not live. Sources: https://support.posh.vip/en/articles/15077378-the-ultimate-guide-to-kickback-affiliates ; https://posh.vip/platform ; https://app.discotech.me/ ; https://www.eventbrite.com/organizer/features/all-features/ ; https://www.sectionsapp.com/ ; https://apps.apple.com/us/app/sections-tables-events/id6755155921 ; https://www.tablerapp.com/faq . Planned capabilities require validation and do not establish a durable competitive moat. The moat hypothesis is retained venue workflows and customer/referrer relationships, which must be supported by pilot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September 23, 2026. Standard Nitewide fee = round(unit price cents × 8%) + 80 cents per paid unit. Start with the lower of that fee and 98% of the lower modeled Posh or Eventbrite total buyer fees. If contribution after modeled costs is below $1 per paid order, raise the fee to the smallest cent that covers $1, even above standard or competitor prices. Do not reject solely for margin. 5% of face value is a preferred contribution target, not a hard floor. Free orders remain free. This is a demo model, not a guarantee against actual losses. All examples assume domestic Stripe 2.9% + $0.30 on the full charge and zero additional costs/reserves. Live Connect, payout, refund and dispute costs require validated assumptions. Three $25 tickets: Nitewide fee $8.40, checkout $83.40, Stripe $2.72, venue $75.00, contribution $5.68. Posh fee $10.47, checkout $85.47. Eventbrite service $8.16 plus processing $2.41 = $10.57 fees, checkout $85.57. One $300 VIP: Nitewide fee $21.52, checkout $321.52, Stripe $9.62, venue $300.00, contribution $11.90. Posh fee $30.99, checkout $330.99. Eventbrite service $12.89 plus processing $9.07 = $21.96 fees, checkout $321.96. Eventbrite processing applies to face value plus service fees. The 2% target is a reduction in buyer fees, not total checkout. A $1 face-value ticket requires $1.37 fee and $2.37 checkout under this model, which exceeds Posh. Venue proceeds assume zero commissions, before tax/refunds and other obligations. Contribution is not net profit. Exact fees and totals appear before checkout confirmation. Public pricing discloses minimum-fee exceptions without exposing platform margins. The $1 floor and preferred 5% target belong in investor/internal/admin disclosures. Premium is optional at $249/month and the planned 10% promoter reward fee is separate and excluded from these examples. Sources reviewed September 23, 2026: https://stripe.com/pricing ; https://posh.vip/university/post/ticketing-platform-fashion-shows-nightclub-events-faq ; https://www.eventbrite.com/organizer/pricing/ ; https://www.eventbrite.com/help/en-us/articles/755615/ . Estimates are not live checkout quotes. Existing sales retain historical fee 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Eventbrite FY2025 Form 10-K, https://www.sec.gov/Archives/edgar/data/1475115/000147511526000005/eb-20251231.htm . Reported gross ticket sales exceed $3.0 billion; its paid-ticket-volume results table reports 78.9 million for 2025. Applying 10% gives over $300 million GMV and 7.89 million paid-ticket equivalents; 25% gives over $750 million and 19.725 million. These are scale scenarios, not Nitewide revenue, forecast, TAM or current market share. Posh reported $350M lifetime GMV and 25M tickets in March 2026 (Fortune). https://fortune.com/2026/03/19/exclusive-posh-lands-37m-series-b-what-are-we-doing-tonight-problem/ . Its benchmark is lifetime, not annual, and tickets are not represented as exclusively paid. Multiplication of the displayed reference values gives $35M/2.5M and $87.5M/6.25M volume equivalents. The periods and ticket definitions differ; do not add these columns, treat them as directly comparable annual run rates, or infer customer counts. Unique active customers and event-count equivalents cannot be derived from this information. No newer verified Posh annual GMV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evidence: DemesheoWilson2026Resume.pdf supplied by the founder, reviewed September 23, 2026. Software roles run from November 2015 through the present. Resume-supported capabilities include multi-tenant authorization, React component libraries, Node.js/PostgreSQL workflows, Stripe subscription/payment integration and automated UI payment-flow tests. These are personal engineering qualifications, not claims of Nitewide revenue, production certifications or a completed payments/risk team. Recruiting priorities are proposed. The platform has a functioning local demo but live payments, ledger reconciliation, provider onboarding, risk operations and messaging integrations remain work. Planned services: Render, Stripe Connect, Resend, Plivo, Upstash Redis, BullMQ, Cloudflare R2 and GlitchTip. Cost bounds, compatible Connect configuration and provider contracts remain launch gates. R2 should store persistent object keys/URLs in PostgreSQL and generate expiring signed URLs as needed, rather than rely on expired signed URLs as permanent image identifiers.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Management-directed $5M pre-seed ask and six-month execution target; proposed allocation, not a financing commitment, signed hiring plan or historical spend. Total = $2.25M product/engineering + $1M operations/infrastructure + $1M marketing/outreach/promotion/expansion + $0.5M legal/payments/risk + $0.25M contingency. Operations follows product and engineering as requested; categories are descending by amount. The marketing line consolidates all market entry, promotion and expansion spend and stays capped at $1M. Spending should be released by milestones, with exact headcount/vendor contracts approved separately. Spending the full $5M inside six months would imply about $833,333 per month on average, which is not justified by current zero-traction evidence; the six-month target is an execution review point, not a mandatory burn rate. Months 1–2: compatible payment configuration, onboarding, server-authoritative pricing, ledger, refund/dispute operations and pilot agreements. Months 3–4: controlled live pilot and measurement of activation, repeat bookings and realized contribution. Months 5–6: review retention and unit economics before committing expansion capital. The pilot recruitment objective on slide 5 is a proposal, not secured supply. Investors should underwrite milestones and customer evidence rather than a promise of specific market share.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d8a5352e443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e82f086a334420" /><Relationship Type="http://schemas.openxmlformats.org/officeDocument/2006/relationships/slideLayout" Target="/ppt/slideLayouts/slideLayout1.xml" Id="R1835fa6352e247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35fa6352e247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2ae9bb55c44a4b" /><Relationship Type="http://schemas.openxmlformats.org/officeDocument/2006/relationships/image" Target="/ppt/media/image.png" Id="Rc876e317380f465f" /><Relationship Type="http://schemas.openxmlformats.org/officeDocument/2006/relationships/notesSlide" Target="/ppt/notesSlides/notesSlide1.xml" Id="R4c716cb34db441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7857a98a9e4921" /><Relationship Type="http://schemas.openxmlformats.org/officeDocument/2006/relationships/notesSlide" Target="/ppt/notesSlides/notesSlide2.xml" Id="R094ff8b25b8541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3855f081d84592" /><Relationship Type="http://schemas.openxmlformats.org/officeDocument/2006/relationships/notesSlide" Target="/ppt/notesSlides/notesSlide3.xml" Id="R4409ccb373f147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4dd7b4a10049de" /><Relationship Type="http://schemas.openxmlformats.org/officeDocument/2006/relationships/notesSlide" Target="/ppt/notesSlides/notesSlide4.xml" Id="Re801463d6c6841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d8b34f99f64576" /><Relationship Type="http://schemas.openxmlformats.org/officeDocument/2006/relationships/notesSlide" Target="/ppt/notesSlides/notesSlide5.xml" Id="Raf815c5cbd454b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7e0c518f2449b1" /><Relationship Type="http://schemas.openxmlformats.org/officeDocument/2006/relationships/notesSlide" Target="/ppt/notesSlides/notesSlide6.xml" Id="Ra9966f59b72644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557e41fd824e7d" /><Relationship Type="http://schemas.openxmlformats.org/officeDocument/2006/relationships/notesSlide" Target="/ppt/notesSlides/notesSlide7.xml" Id="Rb619a265e55e44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ea98128374447c" /><Relationship Type="http://schemas.openxmlformats.org/officeDocument/2006/relationships/notesSlide" Target="/ppt/notesSlides/notesSlide8.xml" Id="R94632ee698b046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1bf76ae37dc4d55" /><Relationship Type="http://schemas.openxmlformats.org/officeDocument/2006/relationships/notesSlide" Target="/ppt/notesSlides/notesSlide9.xml" Id="Ra1a6d068105741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e5d0e6e6fe4b34" /><Relationship Type="http://schemas.openxmlformats.org/officeDocument/2006/relationships/notesSlide" Target="/ppt/notesSlides/notesSlide10.xml" Id="R815fe28732234d3d" /></Relationships>
</file>

<file path=ppt/slides/slide1.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876e317380f465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E50E9E-D26B-4F04-A501-6F41DB7AC1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80C">
              <a:alpha val="3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AEF688-FABE-4854-9A78-8BA9188EF4E1}"/>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gradFill xmlns:a="http://schemas.openxmlformats.org/drawingml/2006/main">
            <a:gsLst>
              <a:gs pos="0">
                <a:srgbClr val="101014">
                  <a:alpha val="98000"/>
                </a:srgbClr>
              </a:gs>
              <a:gs pos="68000">
                <a:srgbClr val="101014">
                  <a:alpha val="91000"/>
                </a:srgbClr>
              </a:gs>
              <a:gs pos="100000">
                <a:srgbClr val="101014">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3EC45F-005B-4893-A8A8-895C421727CC}"/>
              </a:ext>
            </a:extLst>
          </p:cNvPr>
          <p:cNvSpPr>
            <a:spLocks xmlns:a="http://schemas.openxmlformats.org/drawingml/2006/main" noGrp="1"/>
          </p:cNvSpPr>
          <p:nvPr/>
        </p:nvSpPr>
        <p:spPr>
          <a:xfrm xmlns:a="http://schemas.openxmlformats.org/drawingml/2006/main">
            <a:off x="742950" y="68580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NITEWIDE</a:t>
            </a:r>
          </a:p>
        </p:txBody>
      </p:sp>
      <p:sp>
        <p:nvSpPr>
          <p:cNvPr id="5" name="">
            <a:extLst xmlns:a="http://schemas.openxmlformats.org/drawingml/2006/main">
              <a:ext uri="{FF2B5EF4-FFF2-40B4-BE49-F238E27FC236}">
                <a16:creationId xmlns:a16="http://schemas.microsoft.com/office/drawing/2014/main" id="{DB860EB2-DEFB-4859-A93F-39A39D37983C}"/>
              </a:ext>
            </a:extLst>
          </p:cNvPr>
          <p:cNvSpPr>
            <a:spLocks xmlns:a="http://schemas.openxmlformats.org/drawingml/2006/main" noGrp="1"/>
          </p:cNvSpPr>
          <p:nvPr/>
        </p:nvSpPr>
        <p:spPr>
          <a:xfrm xmlns:a="http://schemas.openxmlformats.org/drawingml/2006/main">
            <a:off x="762000" y="1409700"/>
            <a:ext cx="781050" cy="47625"/>
          </a:xfrm>
          <a:prstGeom xmlns:a="http://schemas.openxmlformats.org/drawingml/2006/main" prst="rect">
            <a:avLst/>
          </a:prstGeom>
          <a:solidFill xmlns:a="http://schemas.openxmlformats.org/drawingml/2006/main">
            <a:srgbClr val="D2B16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74B12E-4637-4338-9271-B8E4BA2D6753}"/>
              </a:ext>
            </a:extLst>
          </p:cNvPr>
          <p:cNvSpPr>
            <a:spLocks xmlns:a="http://schemas.openxmlformats.org/drawingml/2006/main" noGrp="1"/>
          </p:cNvSpPr>
          <p:nvPr/>
        </p:nvSpPr>
        <p:spPr>
          <a:xfrm xmlns:a="http://schemas.openxmlformats.org/drawingml/2006/main">
            <a:off x="742950" y="1809750"/>
            <a:ext cx="70485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a:solidFill>
                  <a:srgbClr val="F5F2F7"/>
                </a:solidFill>
                <a:latin typeface="Helvetica Neue"/>
                <a:ea typeface="Helvetica Neue"/>
                <a:cs typeface="Helvetica Neue"/>
              </a:defRPr>
            </a:pPr>
            <a:r>
              <a:rPr sz="4500" b="1">
                <a:solidFill>
                  <a:srgbClr val="F5F2F7"/>
                </a:solidFill>
                <a:latin typeface="Helvetica Neue"/>
                <a:ea typeface="Helvetica Neue"/>
                <a:cs typeface="Helvetica Neue"/>
              </a:rPr>
              <a:t>Nightlife commerce.</a:t>
            </a:r>
          </a:p>
          <a:p xmlns:a="http://schemas.openxmlformats.org/drawingml/2006/main">
            <a:pPr algn="l">
              <a:defRPr sz="4500" b="1">
                <a:solidFill>
                  <a:srgbClr val="F5F2F7"/>
                </a:solidFill>
                <a:latin typeface="Helvetica Neue"/>
                <a:ea typeface="Helvetica Neue"/>
                <a:cs typeface="Helvetica Neue"/>
              </a:defRPr>
            </a:pPr>
            <a:r>
              <a:rPr sz="4500" b="1">
                <a:solidFill>
                  <a:srgbClr val="F5F2F7"/>
                </a:solidFill>
                <a:latin typeface="Helvetica Neue"/>
                <a:ea typeface="Helvetica Neue"/>
                <a:cs typeface="Helvetica Neue"/>
              </a:rPr>
              <a:t>Built for the return.</a:t>
            </a:r>
          </a:p>
        </p:txBody>
      </p:sp>
      <p:sp>
        <p:nvSpPr>
          <p:cNvPr id="7" name="">
            <a:extLst xmlns:a="http://schemas.openxmlformats.org/drawingml/2006/main">
              <a:ext uri="{FF2B5EF4-FFF2-40B4-BE49-F238E27FC236}">
                <a16:creationId xmlns:a16="http://schemas.microsoft.com/office/drawing/2014/main" id="{7885AB05-67D4-41A5-9231-578643106024}"/>
              </a:ext>
            </a:extLst>
          </p:cNvPr>
          <p:cNvSpPr>
            <a:spLocks xmlns:a="http://schemas.openxmlformats.org/drawingml/2006/main" noGrp="1"/>
          </p:cNvSpPr>
          <p:nvPr/>
        </p:nvSpPr>
        <p:spPr>
          <a:xfrm xmlns:a="http://schemas.openxmlformats.org/drawingml/2006/main">
            <a:off x="781050" y="3962400"/>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B6AFBD"/>
                </a:solidFill>
                <a:latin typeface="Helvetica Neue"/>
                <a:ea typeface="Helvetica Neue"/>
                <a:cs typeface="Helvetica Neue"/>
              </a:defRPr>
            </a:pPr>
            <a:r>
              <a:rPr sz="1875" b="0">
                <a:solidFill>
                  <a:srgbClr val="B6AFBD"/>
                </a:solidFill>
                <a:latin typeface="Helvetica Neue"/>
                <a:ea typeface="Helvetica Neue"/>
                <a:cs typeface="Helvetica Neue"/>
              </a:rPr>
              <a:t>Tickets, guestlists and promoter relationships in one platform, designed to turn a night out into the next booking.</a:t>
            </a:r>
          </a:p>
        </p:txBody>
      </p:sp>
      <p:sp>
        <p:nvSpPr>
          <p:cNvPr id="8" name="">
            <a:extLst xmlns:a="http://schemas.openxmlformats.org/drawingml/2006/main">
              <a:ext uri="{FF2B5EF4-FFF2-40B4-BE49-F238E27FC236}">
                <a16:creationId xmlns:a16="http://schemas.microsoft.com/office/drawing/2014/main" id="{3AF7101A-7336-4A39-B7E1-CAF556059568}"/>
              </a:ext>
            </a:extLst>
          </p:cNvPr>
          <p:cNvSpPr>
            <a:spLocks xmlns:a="http://schemas.openxmlformats.org/drawingml/2006/main" noGrp="1"/>
          </p:cNvSpPr>
          <p:nvPr/>
        </p:nvSpPr>
        <p:spPr>
          <a:xfrm xmlns:a="http://schemas.openxmlformats.org/drawingml/2006/main">
            <a:off x="781050" y="5638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D2B16A"/>
                </a:solidFill>
                <a:latin typeface="Helvetica Neue"/>
                <a:ea typeface="Helvetica Neue"/>
                <a:cs typeface="Helvetica Neue"/>
              </a:defRPr>
            </a:pPr>
            <a:r>
              <a:rPr sz="1200" b="1">
                <a:solidFill>
                  <a:srgbClr val="D2B16A"/>
                </a:solidFill>
                <a:latin typeface="Helvetica Neue"/>
                <a:ea typeface="Helvetica Neue"/>
                <a:cs typeface="Helvetica Neue"/>
              </a:rPr>
              <a:t>PRE-SEED / SEPTEMBER 2026</a:t>
            </a:r>
          </a:p>
        </p:txBody>
      </p:sp>
    </p:spTree>
    <p:extLst>
      <p:ext uri="{BB962C8B-B14F-4D97-AF65-F5344CB8AC3E}">
        <p14:creationId xmlns:p14="http://schemas.microsoft.com/office/powerpoint/2010/main" val="1232520636"/>
      </p:ext>
    </p:extLst>
  </p:cSld>
</p:sld>
</file>

<file path=ppt/slides/slide2.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2FB3AF-97DD-437F-84F1-CD3E460BBB4E}"/>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503B18-F552-4A99-8614-03DEFA81723C}"/>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THE PROBLEM</a:t>
            </a:r>
          </a:p>
        </p:txBody>
      </p:sp>
      <p:sp>
        <p:nvSpPr>
          <p:cNvPr id="3" name="">
            <a:extLst xmlns:a="http://schemas.openxmlformats.org/drawingml/2006/main">
              <a:ext uri="{FF2B5EF4-FFF2-40B4-BE49-F238E27FC236}">
                <a16:creationId xmlns:a16="http://schemas.microsoft.com/office/drawing/2014/main" id="{9486E35E-23E6-469C-9126-757A9B7B79EE}"/>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The customer relationship gets lost after checkout</a:t>
            </a:r>
          </a:p>
        </p:txBody>
      </p:sp>
      <p:sp>
        <p:nvSpPr>
          <p:cNvPr id="4" name="">
            <a:extLst xmlns:a="http://schemas.openxmlformats.org/drawingml/2006/main">
              <a:ext uri="{FF2B5EF4-FFF2-40B4-BE49-F238E27FC236}">
                <a16:creationId xmlns:a16="http://schemas.microsoft.com/office/drawing/2014/main" id="{0412C8DD-AE41-48D7-8740-B24E7BC02154}"/>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AFC71E-16AE-4052-B5B3-8471CB4C6A95}"/>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054D7D02-ED1B-4537-AE73-3B940AEB2B3C}"/>
              </a:ext>
            </a:extLst>
          </p:cNvPr>
          <p:cNvSpPr>
            <a:spLocks xmlns:a="http://schemas.openxmlformats.org/drawingml/2006/main" noGrp="1"/>
          </p:cNvSpPr>
          <p:nvPr/>
        </p:nvSpPr>
        <p:spPr>
          <a:xfrm xmlns:a="http://schemas.openxmlformats.org/drawingml/2006/main">
            <a:off x="609600" y="1562100"/>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B6AFBD"/>
                </a:solidFill>
                <a:latin typeface="Helvetica Neue"/>
                <a:ea typeface="Helvetica Neue"/>
                <a:cs typeface="Helvetica Neue"/>
              </a:defRPr>
            </a:pPr>
            <a:r>
              <a:rPr sz="2025" b="0">
                <a:solidFill>
                  <a:srgbClr val="B6AFBD"/>
                </a:solidFill>
                <a:latin typeface="Helvetica Neue"/>
                <a:ea typeface="Helvetica Neue"/>
                <a:cs typeface="Helvetica Neue"/>
              </a:rPr>
              <a:t>The person who brings a guest matters. Ticket sales alone do not capture that relationship.</a:t>
            </a:r>
          </a:p>
        </p:txBody>
      </p:sp>
      <p:sp>
        <p:nvSpPr>
          <p:cNvPr id="7" name="">
            <a:extLst xmlns:a="http://schemas.openxmlformats.org/drawingml/2006/main">
              <a:ext uri="{FF2B5EF4-FFF2-40B4-BE49-F238E27FC236}">
                <a16:creationId xmlns:a16="http://schemas.microsoft.com/office/drawing/2014/main" id="{F89776ED-AF59-452A-9631-F5F81B9D4AD4}"/>
              </a:ext>
            </a:extLst>
          </p:cNvPr>
          <p:cNvSpPr>
            <a:spLocks xmlns:a="http://schemas.openxmlformats.org/drawingml/2006/main" noGrp="1"/>
          </p:cNvSpPr>
          <p:nvPr/>
        </p:nvSpPr>
        <p:spPr>
          <a:xfrm xmlns:a="http://schemas.openxmlformats.org/drawingml/2006/main">
            <a:off x="666750" y="2676525"/>
            <a:ext cx="476250" cy="47625"/>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7E969B0-8177-4D5F-8D63-35D034AD0936}"/>
              </a:ext>
            </a:extLst>
          </p:cNvPr>
          <p:cNvSpPr>
            <a:spLocks xmlns:a="http://schemas.openxmlformats.org/drawingml/2006/main" noGrp="1"/>
          </p:cNvSpPr>
          <p:nvPr/>
        </p:nvSpPr>
        <p:spPr>
          <a:xfrm xmlns:a="http://schemas.openxmlformats.org/drawingml/2006/main">
            <a:off x="666750" y="30099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5F2F7"/>
                </a:solidFill>
                <a:latin typeface="Helvetica Neue"/>
                <a:ea typeface="Helvetica Neue"/>
                <a:cs typeface="Helvetica Neue"/>
              </a:defRPr>
            </a:pPr>
            <a:r>
              <a:rPr sz="1875" b="1">
                <a:solidFill>
                  <a:srgbClr val="F5F2F7"/>
                </a:solidFill>
                <a:latin typeface="Helvetica Neue"/>
                <a:ea typeface="Helvetica Neue"/>
                <a:cs typeface="Helvetica Neue"/>
              </a:rPr>
              <a:t>Customers lose the thread</a:t>
            </a:r>
          </a:p>
        </p:txBody>
      </p:sp>
      <p:sp>
        <p:nvSpPr>
          <p:cNvPr id="9" name="">
            <a:extLst xmlns:a="http://schemas.openxmlformats.org/drawingml/2006/main">
              <a:ext uri="{FF2B5EF4-FFF2-40B4-BE49-F238E27FC236}">
                <a16:creationId xmlns:a16="http://schemas.microsoft.com/office/drawing/2014/main" id="{9090D5F9-A21F-4625-9626-AC60E20E79F9}"/>
              </a:ext>
            </a:extLst>
          </p:cNvPr>
          <p:cNvSpPr>
            <a:spLocks xmlns:a="http://schemas.openxmlformats.org/drawingml/2006/main" noGrp="1"/>
          </p:cNvSpPr>
          <p:nvPr/>
        </p:nvSpPr>
        <p:spPr>
          <a:xfrm xmlns:a="http://schemas.openxmlformats.org/drawingml/2006/main">
            <a:off x="666750" y="3714750"/>
            <a:ext cx="3124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B6AFBD"/>
                </a:solidFill>
                <a:latin typeface="Helvetica Neue"/>
                <a:ea typeface="Helvetica Neue"/>
                <a:cs typeface="Helvetica Neue"/>
              </a:defRPr>
            </a:pPr>
            <a:r>
              <a:rPr sz="1500" b="0">
                <a:solidFill>
                  <a:srgbClr val="B6AFBD"/>
                </a:solidFill>
                <a:latin typeface="Helvetica Neue"/>
                <a:ea typeface="Helvetica Neue"/>
                <a:cs typeface="Helvetica Neue"/>
              </a:rPr>
              <a:t>A promoter’s next event may be at another venue. Social posts and messages are a fragile route back to booking.</a:t>
            </a:r>
          </a:p>
        </p:txBody>
      </p:sp>
      <p:sp>
        <p:nvSpPr>
          <p:cNvPr id="10" name="">
            <a:extLst xmlns:a="http://schemas.openxmlformats.org/drawingml/2006/main">
              <a:ext uri="{FF2B5EF4-FFF2-40B4-BE49-F238E27FC236}">
                <a16:creationId xmlns:a16="http://schemas.microsoft.com/office/drawing/2014/main" id="{53D31B60-FEB7-45F8-AE1C-37C7745BF35A}"/>
              </a:ext>
            </a:extLst>
          </p:cNvPr>
          <p:cNvSpPr>
            <a:spLocks xmlns:a="http://schemas.openxmlformats.org/drawingml/2006/main" noGrp="1"/>
          </p:cNvSpPr>
          <p:nvPr/>
        </p:nvSpPr>
        <p:spPr>
          <a:xfrm xmlns:a="http://schemas.openxmlformats.org/drawingml/2006/main">
            <a:off x="4095750" y="2724150"/>
            <a:ext cx="9525" cy="21526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63E5F32-C292-4579-81D5-7A6CE22F37CC}"/>
              </a:ext>
            </a:extLst>
          </p:cNvPr>
          <p:cNvSpPr>
            <a:spLocks xmlns:a="http://schemas.openxmlformats.org/drawingml/2006/main" noGrp="1"/>
          </p:cNvSpPr>
          <p:nvPr/>
        </p:nvSpPr>
        <p:spPr>
          <a:xfrm xmlns:a="http://schemas.openxmlformats.org/drawingml/2006/main">
            <a:off x="4552950" y="2676525"/>
            <a:ext cx="476250" cy="47625"/>
          </a:xfrm>
          <a:prstGeom xmlns:a="http://schemas.openxmlformats.org/drawingml/2006/main" prst="rect">
            <a:avLst/>
          </a:prstGeom>
          <a:solidFill xmlns:a="http://schemas.openxmlformats.org/drawingml/2006/main">
            <a:srgbClr val="775F9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BBB04F-D93D-47FF-B0E0-0806A2D0318A}"/>
              </a:ext>
            </a:extLst>
          </p:cNvPr>
          <p:cNvSpPr>
            <a:spLocks xmlns:a="http://schemas.openxmlformats.org/drawingml/2006/main" noGrp="1"/>
          </p:cNvSpPr>
          <p:nvPr/>
        </p:nvSpPr>
        <p:spPr>
          <a:xfrm xmlns:a="http://schemas.openxmlformats.org/drawingml/2006/main">
            <a:off x="4552950" y="30099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5F2F7"/>
                </a:solidFill>
                <a:latin typeface="Helvetica Neue"/>
                <a:ea typeface="Helvetica Neue"/>
                <a:cs typeface="Helvetica Neue"/>
              </a:defRPr>
            </a:pPr>
            <a:r>
              <a:rPr sz="1875" b="1">
                <a:solidFill>
                  <a:srgbClr val="F5F2F7"/>
                </a:solidFill>
                <a:latin typeface="Helvetica Neue"/>
                <a:ea typeface="Helvetica Neue"/>
                <a:cs typeface="Helvetica Neue"/>
              </a:rPr>
              <a:t>Teams piece it together</a:t>
            </a:r>
          </a:p>
        </p:txBody>
      </p:sp>
      <p:sp>
        <p:nvSpPr>
          <p:cNvPr id="13" name="">
            <a:extLst xmlns:a="http://schemas.openxmlformats.org/drawingml/2006/main">
              <a:ext uri="{FF2B5EF4-FFF2-40B4-BE49-F238E27FC236}">
                <a16:creationId xmlns:a16="http://schemas.microsoft.com/office/drawing/2014/main" id="{24E9B388-B5A7-4CF4-900D-1D44B19ED087}"/>
              </a:ext>
            </a:extLst>
          </p:cNvPr>
          <p:cNvSpPr>
            <a:spLocks xmlns:a="http://schemas.openxmlformats.org/drawingml/2006/main" noGrp="1"/>
          </p:cNvSpPr>
          <p:nvPr/>
        </p:nvSpPr>
        <p:spPr>
          <a:xfrm xmlns:a="http://schemas.openxmlformats.org/drawingml/2006/main">
            <a:off x="4552950" y="3714750"/>
            <a:ext cx="3124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B6AFBD"/>
                </a:solidFill>
                <a:latin typeface="Helvetica Neue"/>
                <a:ea typeface="Helvetica Neue"/>
                <a:cs typeface="Helvetica Neue"/>
              </a:defRPr>
            </a:pPr>
            <a:r>
              <a:rPr sz="1500" b="0">
                <a:solidFill>
                  <a:srgbClr val="B6AFBD"/>
                </a:solidFill>
                <a:latin typeface="Helvetica Neue"/>
                <a:ea typeface="Helvetica Neue"/>
                <a:cs typeface="Helvetica Neue"/>
              </a:rPr>
              <a:t>Tickets, guestlist allocations, individual commissions and door entry need to agree across the same event.</a:t>
            </a:r>
          </a:p>
        </p:txBody>
      </p:sp>
      <p:sp>
        <p:nvSpPr>
          <p:cNvPr id="14" name="">
            <a:extLst xmlns:a="http://schemas.openxmlformats.org/drawingml/2006/main">
              <a:ext uri="{FF2B5EF4-FFF2-40B4-BE49-F238E27FC236}">
                <a16:creationId xmlns:a16="http://schemas.microsoft.com/office/drawing/2014/main" id="{7E161D60-8E8C-471E-B346-99FE9E08A501}"/>
              </a:ext>
            </a:extLst>
          </p:cNvPr>
          <p:cNvSpPr>
            <a:spLocks xmlns:a="http://schemas.openxmlformats.org/drawingml/2006/main" noGrp="1"/>
          </p:cNvSpPr>
          <p:nvPr/>
        </p:nvSpPr>
        <p:spPr>
          <a:xfrm xmlns:a="http://schemas.openxmlformats.org/drawingml/2006/main">
            <a:off x="7981950" y="2724150"/>
            <a:ext cx="9525" cy="21526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621E2A-369D-4E50-83F9-823E34304472}"/>
              </a:ext>
            </a:extLst>
          </p:cNvPr>
          <p:cNvSpPr>
            <a:spLocks xmlns:a="http://schemas.openxmlformats.org/drawingml/2006/main" noGrp="1"/>
          </p:cNvSpPr>
          <p:nvPr/>
        </p:nvSpPr>
        <p:spPr>
          <a:xfrm xmlns:a="http://schemas.openxmlformats.org/drawingml/2006/main">
            <a:off x="8439150" y="2676525"/>
            <a:ext cx="476250" cy="47625"/>
          </a:xfrm>
          <a:prstGeom xmlns:a="http://schemas.openxmlformats.org/drawingml/2006/main" prst="rect">
            <a:avLst/>
          </a:prstGeom>
          <a:solidFill xmlns:a="http://schemas.openxmlformats.org/drawingml/2006/main">
            <a:srgbClr val="D2B16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CE2F1CD-C09D-4482-B7DD-5A3AA350AB77}"/>
              </a:ext>
            </a:extLst>
          </p:cNvPr>
          <p:cNvSpPr>
            <a:spLocks xmlns:a="http://schemas.openxmlformats.org/drawingml/2006/main" noGrp="1"/>
          </p:cNvSpPr>
          <p:nvPr/>
        </p:nvSpPr>
        <p:spPr>
          <a:xfrm xmlns:a="http://schemas.openxmlformats.org/drawingml/2006/main">
            <a:off x="8439150" y="30099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5F2F7"/>
                </a:solidFill>
                <a:latin typeface="Helvetica Neue"/>
                <a:ea typeface="Helvetica Neue"/>
                <a:cs typeface="Helvetica Neue"/>
              </a:defRPr>
            </a:pPr>
            <a:r>
              <a:rPr sz="1875" b="1">
                <a:solidFill>
                  <a:srgbClr val="F5F2F7"/>
                </a:solidFill>
                <a:latin typeface="Helvetica Neue"/>
                <a:ea typeface="Helvetica Neue"/>
                <a:cs typeface="Helvetica Neue"/>
              </a:rPr>
              <a:t>Venues miss the full picture</a:t>
            </a:r>
          </a:p>
        </p:txBody>
      </p:sp>
      <p:sp>
        <p:nvSpPr>
          <p:cNvPr id="17" name="">
            <a:extLst xmlns:a="http://schemas.openxmlformats.org/drawingml/2006/main">
              <a:ext uri="{FF2B5EF4-FFF2-40B4-BE49-F238E27FC236}">
                <a16:creationId xmlns:a16="http://schemas.microsoft.com/office/drawing/2014/main" id="{31C0CBC7-8BB1-46C2-9834-8E38DA811393}"/>
              </a:ext>
            </a:extLst>
          </p:cNvPr>
          <p:cNvSpPr>
            <a:spLocks xmlns:a="http://schemas.openxmlformats.org/drawingml/2006/main" noGrp="1"/>
          </p:cNvSpPr>
          <p:nvPr/>
        </p:nvSpPr>
        <p:spPr>
          <a:xfrm xmlns:a="http://schemas.openxmlformats.org/drawingml/2006/main">
            <a:off x="8439150" y="3714750"/>
            <a:ext cx="3124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B6AFBD"/>
                </a:solidFill>
                <a:latin typeface="Helvetica Neue"/>
                <a:ea typeface="Helvetica Neue"/>
                <a:cs typeface="Helvetica Neue"/>
              </a:defRPr>
            </a:pPr>
            <a:r>
              <a:rPr sz="1500" b="0">
                <a:solidFill>
                  <a:srgbClr val="B6AFBD"/>
                </a:solidFill>
                <a:latin typeface="Helvetica Neue"/>
                <a:ea typeface="Helvetica Neue"/>
                <a:cs typeface="Helvetica Neue"/>
              </a:rPr>
              <a:t>Who drove the sale? Who attended? Who returned? Operators need those answers alongside checkout costs.</a:t>
            </a:r>
          </a:p>
        </p:txBody>
      </p:sp>
      <p:sp>
        <p:nvSpPr>
          <p:cNvPr id="18" name="">
            <a:extLst xmlns:a="http://schemas.openxmlformats.org/drawingml/2006/main">
              <a:ext uri="{FF2B5EF4-FFF2-40B4-BE49-F238E27FC236}">
                <a16:creationId xmlns:a16="http://schemas.microsoft.com/office/drawing/2014/main" id="{D13973E8-DA13-4958-9190-E56397806862}"/>
              </a:ext>
            </a:extLst>
          </p:cNvPr>
          <p:cNvSpPr>
            <a:spLocks xmlns:a="http://schemas.openxmlformats.org/drawingml/2006/main" noGrp="1"/>
          </p:cNvSpPr>
          <p:nvPr/>
        </p:nvSpPr>
        <p:spPr>
          <a:xfrm xmlns:a="http://schemas.openxmlformats.org/drawingml/2006/main">
            <a:off x="666750" y="5476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88818F"/>
                </a:solidFill>
                <a:latin typeface="Helvetica Neue"/>
                <a:ea typeface="Helvetica Neue"/>
                <a:cs typeface="Helvetica Neue"/>
              </a:defRPr>
            </a:pPr>
            <a:r>
              <a:rPr sz="1275" b="0">
                <a:solidFill>
                  <a:srgbClr val="88818F"/>
                </a:solidFill>
                <a:latin typeface="Helvetica Neue"/>
                <a:ea typeface="Helvetica Neue"/>
                <a:cs typeface="Helvetica Neue"/>
              </a:rPr>
              <a:t>Customer and operator hypotheses for pilot validation, not quantified market findings.</a:t>
            </a:r>
          </a:p>
        </p:txBody>
      </p:sp>
    </p:spTree>
    <p:extLst>
      <p:ext uri="{BB962C8B-B14F-4D97-AF65-F5344CB8AC3E}">
        <p14:creationId xmlns:p14="http://schemas.microsoft.com/office/powerpoint/2010/main" val="2054441750"/>
      </p:ext>
    </p:extLst>
  </p:cSld>
</p:sld>
</file>

<file path=ppt/slides/slide3.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A2945C7-B6C1-411B-AE66-BCC1030574B2}"/>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FB8C23-F970-484C-BC50-75D52FFD96AA}"/>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THE SOLUTION</a:t>
            </a:r>
          </a:p>
        </p:txBody>
      </p:sp>
      <p:sp>
        <p:nvSpPr>
          <p:cNvPr id="3" name="">
            <a:extLst xmlns:a="http://schemas.openxmlformats.org/drawingml/2006/main">
              <a:ext uri="{FF2B5EF4-FFF2-40B4-BE49-F238E27FC236}">
                <a16:creationId xmlns:a16="http://schemas.microsoft.com/office/drawing/2014/main" id="{6AA540E9-A53E-4878-95E0-997EB5EA4E98}"/>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Every booking strengthens a reusable connection</a:t>
            </a:r>
          </a:p>
        </p:txBody>
      </p:sp>
      <p:sp>
        <p:nvSpPr>
          <p:cNvPr id="4" name="">
            <a:extLst xmlns:a="http://schemas.openxmlformats.org/drawingml/2006/main">
              <a:ext uri="{FF2B5EF4-FFF2-40B4-BE49-F238E27FC236}">
                <a16:creationId xmlns:a16="http://schemas.microsoft.com/office/drawing/2014/main" id="{B9DE067E-68D1-4514-ADDB-5D40E6F73347}"/>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132D6B-AD45-4A87-9274-34DDD48AE8EE}"/>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B22C363A-DFB3-42B6-800C-D0DAF3D3D52E}"/>
              </a:ext>
            </a:extLst>
          </p:cNvPr>
          <p:cNvSpPr>
            <a:spLocks xmlns:a="http://schemas.openxmlformats.org/drawingml/2006/main" noGrp="1"/>
          </p:cNvSpPr>
          <p:nvPr/>
        </p:nvSpPr>
        <p:spPr>
          <a:xfrm xmlns:a="http://schemas.openxmlformats.org/drawingml/2006/main">
            <a:off x="609600" y="152400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B6AFBD"/>
                </a:solidFill>
                <a:latin typeface="Helvetica Neue"/>
                <a:ea typeface="Helvetica Neue"/>
                <a:cs typeface="Helvetica Neue"/>
              </a:defRPr>
            </a:pPr>
            <a:r>
              <a:rPr sz="1950" b="0">
                <a:solidFill>
                  <a:srgbClr val="B6AFBD"/>
                </a:solidFill>
                <a:latin typeface="Helvetica Neue"/>
                <a:ea typeface="Helvetica Neue"/>
                <a:cs typeface="Helvetica Neue"/>
              </a:rPr>
              <a:t>Nitewide links the customer’s next night to the people and teams behind the last one.</a:t>
            </a:r>
          </a:p>
        </p:txBody>
      </p:sp>
      <p:sp>
        <p:nvSpPr>
          <p:cNvPr id="7" name="">
            <a:extLst xmlns:a="http://schemas.openxmlformats.org/drawingml/2006/main">
              <a:ext uri="{FF2B5EF4-FFF2-40B4-BE49-F238E27FC236}">
                <a16:creationId xmlns:a16="http://schemas.microsoft.com/office/drawing/2014/main" id="{D43B3BF9-A91E-42C2-92D7-2DFE219DCA05}"/>
              </a:ext>
            </a:extLst>
          </p:cNvPr>
          <p:cNvSpPr>
            <a:spLocks xmlns:a="http://schemas.openxmlformats.org/drawingml/2006/main" noGrp="1"/>
          </p:cNvSpPr>
          <p:nvPr/>
        </p:nvSpPr>
        <p:spPr>
          <a:xfrm xmlns:a="http://schemas.openxmlformats.org/drawingml/2006/main">
            <a:off x="990600" y="3105150"/>
            <a:ext cx="9982200" cy="190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14B21E-FED7-4632-9D74-7E3E830BCB91}"/>
              </a:ext>
            </a:extLst>
          </p:cNvPr>
          <p:cNvSpPr>
            <a:spLocks xmlns:a="http://schemas.openxmlformats.org/drawingml/2006/main" noGrp="1"/>
          </p:cNvSpPr>
          <p:nvPr/>
        </p:nvSpPr>
        <p:spPr>
          <a:xfrm xmlns:a="http://schemas.openxmlformats.org/drawingml/2006/main">
            <a:off x="838200" y="3009900"/>
            <a:ext cx="209550" cy="209550"/>
          </a:xfrm>
          <a:prstGeom xmlns:a="http://schemas.openxmlformats.org/drawingml/2006/main" prst="ellipse">
            <a:avLst/>
          </a:prstGeom>
          <a:solidFill xmlns:a="http://schemas.openxmlformats.org/drawingml/2006/main">
            <a:srgbClr val="B9546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23C75CB-4215-4491-9F68-127E68BC0D1F}"/>
              </a:ext>
            </a:extLst>
          </p:cNvPr>
          <p:cNvSpPr>
            <a:spLocks xmlns:a="http://schemas.openxmlformats.org/drawingml/2006/main" noGrp="1"/>
          </p:cNvSpPr>
          <p:nvPr/>
        </p:nvSpPr>
        <p:spPr>
          <a:xfrm xmlns:a="http://schemas.openxmlformats.org/drawingml/2006/main">
            <a:off x="714375" y="3495675"/>
            <a:ext cx="1857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Discover</a:t>
            </a:r>
          </a:p>
        </p:txBody>
      </p:sp>
      <p:sp>
        <p:nvSpPr>
          <p:cNvPr id="10" name="">
            <a:extLst xmlns:a="http://schemas.openxmlformats.org/drawingml/2006/main">
              <a:ext uri="{FF2B5EF4-FFF2-40B4-BE49-F238E27FC236}">
                <a16:creationId xmlns:a16="http://schemas.microsoft.com/office/drawing/2014/main" id="{412DFDDB-163E-48A6-9E06-2E8EF9CB74D6}"/>
              </a:ext>
            </a:extLst>
          </p:cNvPr>
          <p:cNvSpPr>
            <a:spLocks xmlns:a="http://schemas.openxmlformats.org/drawingml/2006/main" noGrp="1"/>
          </p:cNvSpPr>
          <p:nvPr/>
        </p:nvSpPr>
        <p:spPr>
          <a:xfrm xmlns:a="http://schemas.openxmlformats.org/drawingml/2006/main">
            <a:off x="714375" y="3952875"/>
            <a:ext cx="1809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Find the event and the referrer</a:t>
            </a:r>
          </a:p>
        </p:txBody>
      </p:sp>
      <p:sp>
        <p:nvSpPr>
          <p:cNvPr id="11" name="">
            <a:extLst xmlns:a="http://schemas.openxmlformats.org/drawingml/2006/main">
              <a:ext uri="{FF2B5EF4-FFF2-40B4-BE49-F238E27FC236}">
                <a16:creationId xmlns:a16="http://schemas.microsoft.com/office/drawing/2014/main" id="{DB5FCB3D-B511-495A-BD30-E335AC816C25}"/>
              </a:ext>
            </a:extLst>
          </p:cNvPr>
          <p:cNvSpPr>
            <a:spLocks xmlns:a="http://schemas.openxmlformats.org/drawingml/2006/main" noGrp="1"/>
          </p:cNvSpPr>
          <p:nvPr/>
        </p:nvSpPr>
        <p:spPr>
          <a:xfrm xmlns:a="http://schemas.openxmlformats.org/drawingml/2006/main">
            <a:off x="3048000" y="3009900"/>
            <a:ext cx="209550" cy="209550"/>
          </a:xfrm>
          <a:prstGeom xmlns:a="http://schemas.openxmlformats.org/drawingml/2006/main" prst="ellipse">
            <a:avLst/>
          </a:prstGeom>
          <a:solidFill xmlns:a="http://schemas.openxmlformats.org/drawingml/2006/main">
            <a:srgbClr val="B9546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B959CF-6B89-49BC-B449-5231601AF121}"/>
              </a:ext>
            </a:extLst>
          </p:cNvPr>
          <p:cNvSpPr>
            <a:spLocks xmlns:a="http://schemas.openxmlformats.org/drawingml/2006/main" noGrp="1"/>
          </p:cNvSpPr>
          <p:nvPr/>
        </p:nvSpPr>
        <p:spPr>
          <a:xfrm xmlns:a="http://schemas.openxmlformats.org/drawingml/2006/main">
            <a:off x="2924175" y="3495675"/>
            <a:ext cx="1857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Book</a:t>
            </a:r>
          </a:p>
        </p:txBody>
      </p:sp>
      <p:sp>
        <p:nvSpPr>
          <p:cNvPr id="13" name="">
            <a:extLst xmlns:a="http://schemas.openxmlformats.org/drawingml/2006/main">
              <a:ext uri="{FF2B5EF4-FFF2-40B4-BE49-F238E27FC236}">
                <a16:creationId xmlns:a16="http://schemas.microsoft.com/office/drawing/2014/main" id="{138858C0-6DB3-4AC6-943B-692859C8E414}"/>
              </a:ext>
            </a:extLst>
          </p:cNvPr>
          <p:cNvSpPr>
            <a:spLocks xmlns:a="http://schemas.openxmlformats.org/drawingml/2006/main" noGrp="1"/>
          </p:cNvSpPr>
          <p:nvPr/>
        </p:nvSpPr>
        <p:spPr>
          <a:xfrm xmlns:a="http://schemas.openxmlformats.org/drawingml/2006/main">
            <a:off x="2924175" y="3952875"/>
            <a:ext cx="1809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Choose a ticket, package or guestlist</a:t>
            </a:r>
          </a:p>
        </p:txBody>
      </p:sp>
      <p:sp>
        <p:nvSpPr>
          <p:cNvPr id="14" name="">
            <a:extLst xmlns:a="http://schemas.openxmlformats.org/drawingml/2006/main">
              <a:ext uri="{FF2B5EF4-FFF2-40B4-BE49-F238E27FC236}">
                <a16:creationId xmlns:a16="http://schemas.microsoft.com/office/drawing/2014/main" id="{20F913C8-A75E-4DC8-AD84-4E2DE2A8B79A}"/>
              </a:ext>
            </a:extLst>
          </p:cNvPr>
          <p:cNvSpPr>
            <a:spLocks xmlns:a="http://schemas.openxmlformats.org/drawingml/2006/main" noGrp="1"/>
          </p:cNvSpPr>
          <p:nvPr/>
        </p:nvSpPr>
        <p:spPr>
          <a:xfrm xmlns:a="http://schemas.openxmlformats.org/drawingml/2006/main">
            <a:off x="5257800" y="3009900"/>
            <a:ext cx="209550" cy="209550"/>
          </a:xfrm>
          <a:prstGeom xmlns:a="http://schemas.openxmlformats.org/drawingml/2006/main" prst="ellipse">
            <a:avLst/>
          </a:prstGeom>
          <a:solidFill xmlns:a="http://schemas.openxmlformats.org/drawingml/2006/main">
            <a:srgbClr val="775F9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44E836-4D29-43B0-A688-8A3D4792A32C}"/>
              </a:ext>
            </a:extLst>
          </p:cNvPr>
          <p:cNvSpPr>
            <a:spLocks xmlns:a="http://schemas.openxmlformats.org/drawingml/2006/main" noGrp="1"/>
          </p:cNvSpPr>
          <p:nvPr/>
        </p:nvSpPr>
        <p:spPr>
          <a:xfrm xmlns:a="http://schemas.openxmlformats.org/drawingml/2006/main">
            <a:off x="5133975" y="3495675"/>
            <a:ext cx="1857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Attribute</a:t>
            </a:r>
          </a:p>
        </p:txBody>
      </p:sp>
      <p:sp>
        <p:nvSpPr>
          <p:cNvPr id="16" name="">
            <a:extLst xmlns:a="http://schemas.openxmlformats.org/drawingml/2006/main">
              <a:ext uri="{FF2B5EF4-FFF2-40B4-BE49-F238E27FC236}">
                <a16:creationId xmlns:a16="http://schemas.microsoft.com/office/drawing/2014/main" id="{1B0BC9AA-FA30-4D19-9355-A3695B8F82ED}"/>
              </a:ext>
            </a:extLst>
          </p:cNvPr>
          <p:cNvSpPr>
            <a:spLocks xmlns:a="http://schemas.openxmlformats.org/drawingml/2006/main" noGrp="1"/>
          </p:cNvSpPr>
          <p:nvPr/>
        </p:nvSpPr>
        <p:spPr>
          <a:xfrm xmlns:a="http://schemas.openxmlformats.org/drawingml/2006/main">
            <a:off x="5133975" y="3952875"/>
            <a:ext cx="1809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Keep the sale and commission linked</a:t>
            </a:r>
          </a:p>
        </p:txBody>
      </p:sp>
      <p:sp>
        <p:nvSpPr>
          <p:cNvPr id="17" name="">
            <a:extLst xmlns:a="http://schemas.openxmlformats.org/drawingml/2006/main">
              <a:ext uri="{FF2B5EF4-FFF2-40B4-BE49-F238E27FC236}">
                <a16:creationId xmlns:a16="http://schemas.microsoft.com/office/drawing/2014/main" id="{91C1B0CF-43BA-4BFA-9324-BD3C8DAEBCF5}"/>
              </a:ext>
            </a:extLst>
          </p:cNvPr>
          <p:cNvSpPr>
            <a:spLocks xmlns:a="http://schemas.openxmlformats.org/drawingml/2006/main" noGrp="1"/>
          </p:cNvSpPr>
          <p:nvPr/>
        </p:nvSpPr>
        <p:spPr>
          <a:xfrm xmlns:a="http://schemas.openxmlformats.org/drawingml/2006/main">
            <a:off x="7467600" y="3009900"/>
            <a:ext cx="209550" cy="209550"/>
          </a:xfrm>
          <a:prstGeom xmlns:a="http://schemas.openxmlformats.org/drawingml/2006/main" prst="ellipse">
            <a:avLst/>
          </a:prstGeom>
          <a:solidFill xmlns:a="http://schemas.openxmlformats.org/drawingml/2006/main">
            <a:srgbClr val="775F9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DEB79A-3053-48E9-9F66-6F96B607FE99}"/>
              </a:ext>
            </a:extLst>
          </p:cNvPr>
          <p:cNvSpPr>
            <a:spLocks xmlns:a="http://schemas.openxmlformats.org/drawingml/2006/main" noGrp="1"/>
          </p:cNvSpPr>
          <p:nvPr/>
        </p:nvSpPr>
        <p:spPr>
          <a:xfrm xmlns:a="http://schemas.openxmlformats.org/drawingml/2006/main">
            <a:off x="7343775" y="3495675"/>
            <a:ext cx="1857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Attend</a:t>
            </a:r>
          </a:p>
        </p:txBody>
      </p:sp>
      <p:sp>
        <p:nvSpPr>
          <p:cNvPr id="19" name="">
            <a:extLst xmlns:a="http://schemas.openxmlformats.org/drawingml/2006/main">
              <a:ext uri="{FF2B5EF4-FFF2-40B4-BE49-F238E27FC236}">
                <a16:creationId xmlns:a16="http://schemas.microsoft.com/office/drawing/2014/main" id="{9B973FD0-EBD5-4E00-81FD-37DFAFA892B5}"/>
              </a:ext>
            </a:extLst>
          </p:cNvPr>
          <p:cNvSpPr>
            <a:spLocks xmlns:a="http://schemas.openxmlformats.org/drawingml/2006/main" noGrp="1"/>
          </p:cNvSpPr>
          <p:nvPr/>
        </p:nvSpPr>
        <p:spPr>
          <a:xfrm xmlns:a="http://schemas.openxmlformats.org/drawingml/2006/main">
            <a:off x="7343775" y="3952875"/>
            <a:ext cx="1809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Present an individual QR entry</a:t>
            </a:r>
          </a:p>
        </p:txBody>
      </p:sp>
      <p:sp>
        <p:nvSpPr>
          <p:cNvPr id="20" name="">
            <a:extLst xmlns:a="http://schemas.openxmlformats.org/drawingml/2006/main">
              <a:ext uri="{FF2B5EF4-FFF2-40B4-BE49-F238E27FC236}">
                <a16:creationId xmlns:a16="http://schemas.microsoft.com/office/drawing/2014/main" id="{B5490794-00E6-4772-8B19-0CAF1FE59FBB}"/>
              </a:ext>
            </a:extLst>
          </p:cNvPr>
          <p:cNvSpPr>
            <a:spLocks xmlns:a="http://schemas.openxmlformats.org/drawingml/2006/main" noGrp="1"/>
          </p:cNvSpPr>
          <p:nvPr/>
        </p:nvSpPr>
        <p:spPr>
          <a:xfrm xmlns:a="http://schemas.openxmlformats.org/drawingml/2006/main">
            <a:off x="9677400" y="3009900"/>
            <a:ext cx="209550" cy="209550"/>
          </a:xfrm>
          <a:prstGeom xmlns:a="http://schemas.openxmlformats.org/drawingml/2006/main" prst="ellipse">
            <a:avLst/>
          </a:prstGeom>
          <a:solidFill xmlns:a="http://schemas.openxmlformats.org/drawingml/2006/main">
            <a:srgbClr val="D2B16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75A15C3-A555-4DA6-B520-B2BF7C0212D5}"/>
              </a:ext>
            </a:extLst>
          </p:cNvPr>
          <p:cNvSpPr>
            <a:spLocks xmlns:a="http://schemas.openxmlformats.org/drawingml/2006/main" noGrp="1"/>
          </p:cNvSpPr>
          <p:nvPr/>
        </p:nvSpPr>
        <p:spPr>
          <a:xfrm xmlns:a="http://schemas.openxmlformats.org/drawingml/2006/main">
            <a:off x="9553575" y="3495675"/>
            <a:ext cx="1857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Return</a:t>
            </a:r>
          </a:p>
        </p:txBody>
      </p:sp>
      <p:sp>
        <p:nvSpPr>
          <p:cNvPr id="22" name="">
            <a:extLst xmlns:a="http://schemas.openxmlformats.org/drawingml/2006/main">
              <a:ext uri="{FF2B5EF4-FFF2-40B4-BE49-F238E27FC236}">
                <a16:creationId xmlns:a16="http://schemas.microsoft.com/office/drawing/2014/main" id="{B5F70CA0-DC90-4FB7-ADFC-89E34694DC9B}"/>
              </a:ext>
            </a:extLst>
          </p:cNvPr>
          <p:cNvSpPr>
            <a:spLocks xmlns:a="http://schemas.openxmlformats.org/drawingml/2006/main" noGrp="1"/>
          </p:cNvSpPr>
          <p:nvPr/>
        </p:nvSpPr>
        <p:spPr>
          <a:xfrm xmlns:a="http://schemas.openxmlformats.org/drawingml/2006/main">
            <a:off x="9553575" y="3952875"/>
            <a:ext cx="1809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Book the connection’s next event</a:t>
            </a:r>
          </a:p>
        </p:txBody>
      </p:sp>
      <p:sp>
        <p:nvSpPr>
          <p:cNvPr id="23" name="">
            <a:extLst xmlns:a="http://schemas.openxmlformats.org/drawingml/2006/main">
              <a:ext uri="{FF2B5EF4-FFF2-40B4-BE49-F238E27FC236}">
                <a16:creationId xmlns:a16="http://schemas.microsoft.com/office/drawing/2014/main" id="{2E17821E-D7E0-4173-8110-901D36360D21}"/>
              </a:ext>
            </a:extLst>
          </p:cNvPr>
          <p:cNvSpPr>
            <a:spLocks xmlns:a="http://schemas.openxmlformats.org/drawingml/2006/main" noGrp="1"/>
          </p:cNvSpPr>
          <p:nvPr/>
        </p:nvSpPr>
        <p:spPr>
          <a:xfrm xmlns:a="http://schemas.openxmlformats.org/drawingml/2006/main">
            <a:off x="714375" y="53149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5F2F7"/>
                </a:solidFill>
                <a:latin typeface="Helvetica Neue"/>
                <a:ea typeface="Helvetica Neue"/>
                <a:cs typeface="Helvetica Neue"/>
              </a:defRPr>
            </a:pPr>
            <a:r>
              <a:rPr sz="1500" b="0">
                <a:solidFill>
                  <a:srgbClr val="F5F2F7"/>
                </a:solidFill>
                <a:latin typeface="Helvetica Neue"/>
                <a:ea typeface="Helvetica Neue"/>
                <a:cs typeface="Helvetica Neue"/>
              </a:rPr>
              <a:t>The relationship can span venues. Each business sees only its authorized events, customers and team activity.</a:t>
            </a:r>
          </a:p>
        </p:txBody>
      </p:sp>
    </p:spTree>
    <p:extLst>
      <p:ext uri="{BB962C8B-B14F-4D97-AF65-F5344CB8AC3E}">
        <p14:creationId xmlns:p14="http://schemas.microsoft.com/office/powerpoint/2010/main" val="1303303932"/>
      </p:ext>
    </p:extLst>
  </p:cSld>
</p:sld>
</file>

<file path=ppt/slides/slide4.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798AE70-A21E-4ADF-B8F2-94C6B9138DC9}"/>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C49E02-7AD0-4FBE-80C0-D3E6958253D2}"/>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PRODUCT READINESS</a:t>
            </a:r>
          </a:p>
        </p:txBody>
      </p:sp>
      <p:sp>
        <p:nvSpPr>
          <p:cNvPr id="3" name="">
            <a:extLst xmlns:a="http://schemas.openxmlformats.org/drawingml/2006/main">
              <a:ext uri="{FF2B5EF4-FFF2-40B4-BE49-F238E27FC236}">
                <a16:creationId xmlns:a16="http://schemas.microsoft.com/office/drawing/2014/main" id="{48D1CF9F-7CC8-4199-A73B-7064607F148F}"/>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The product works. Commercial validation is next.</a:t>
            </a:r>
          </a:p>
        </p:txBody>
      </p:sp>
      <p:sp>
        <p:nvSpPr>
          <p:cNvPr id="4" name="">
            <a:extLst xmlns:a="http://schemas.openxmlformats.org/drawingml/2006/main">
              <a:ext uri="{FF2B5EF4-FFF2-40B4-BE49-F238E27FC236}">
                <a16:creationId xmlns:a16="http://schemas.microsoft.com/office/drawing/2014/main" id="{EE8C7B73-1056-4AE9-A24D-BBD0C0996778}"/>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D0AEB8-A464-4082-87CA-D5B9DDB14AF0}"/>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33FC05E8-E7D8-482D-8B8C-309E4173FDA0}"/>
              </a:ext>
            </a:extLst>
          </p:cNvPr>
          <p:cNvSpPr>
            <a:spLocks xmlns:a="http://schemas.openxmlformats.org/drawingml/2006/main" noGrp="1"/>
          </p:cNvSpPr>
          <p:nvPr/>
        </p:nvSpPr>
        <p:spPr>
          <a:xfrm xmlns:a="http://schemas.openxmlformats.org/drawingml/2006/main">
            <a:off x="685800" y="1609725"/>
            <a:ext cx="514350" cy="381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A9825D-31C2-4D75-8206-D88F5D145567}"/>
              </a:ext>
            </a:extLst>
          </p:cNvPr>
          <p:cNvSpPr>
            <a:spLocks xmlns:a="http://schemas.openxmlformats.org/drawingml/2006/main" noGrp="1"/>
          </p:cNvSpPr>
          <p:nvPr/>
        </p:nvSpPr>
        <p:spPr>
          <a:xfrm xmlns:a="http://schemas.openxmlformats.org/drawingml/2006/main">
            <a:off x="685800" y="18478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5F2F7"/>
                </a:solidFill>
                <a:latin typeface="Helvetica Neue"/>
                <a:ea typeface="Helvetica Neue"/>
                <a:cs typeface="Helvetica Neue"/>
              </a:defRPr>
            </a:pPr>
            <a:r>
              <a:rPr sz="2100" b="1">
                <a:solidFill>
                  <a:srgbClr val="F5F2F7"/>
                </a:solidFill>
                <a:latin typeface="Helvetica Neue"/>
                <a:ea typeface="Helvetica Neue"/>
                <a:cs typeface="Helvetica Neue"/>
              </a:rPr>
              <a:t>Customer</a:t>
            </a:r>
          </a:p>
        </p:txBody>
      </p:sp>
      <p:sp>
        <p:nvSpPr>
          <p:cNvPr id="8" name="">
            <a:extLst xmlns:a="http://schemas.openxmlformats.org/drawingml/2006/main">
              <a:ext uri="{FF2B5EF4-FFF2-40B4-BE49-F238E27FC236}">
                <a16:creationId xmlns:a16="http://schemas.microsoft.com/office/drawing/2014/main" id="{E80C8BF5-81F3-4FB0-97C3-3A69D78044CD}"/>
              </a:ext>
            </a:extLst>
          </p:cNvPr>
          <p:cNvSpPr>
            <a:spLocks xmlns:a="http://schemas.openxmlformats.org/drawingml/2006/main" noGrp="1"/>
          </p:cNvSpPr>
          <p:nvPr/>
        </p:nvSpPr>
        <p:spPr>
          <a:xfrm xmlns:a="http://schemas.openxmlformats.org/drawingml/2006/main">
            <a:off x="685800" y="25431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Mobile-first discovery and booking</a:t>
            </a:r>
          </a:p>
        </p:txBody>
      </p:sp>
      <p:sp>
        <p:nvSpPr>
          <p:cNvPr id="9" name="">
            <a:extLst xmlns:a="http://schemas.openxmlformats.org/drawingml/2006/main">
              <a:ext uri="{FF2B5EF4-FFF2-40B4-BE49-F238E27FC236}">
                <a16:creationId xmlns:a16="http://schemas.microsoft.com/office/drawing/2014/main" id="{D338B1B8-AE61-4659-B336-48CC8AB29D65}"/>
              </a:ext>
            </a:extLst>
          </p:cNvPr>
          <p:cNvSpPr>
            <a:spLocks xmlns:a="http://schemas.openxmlformats.org/drawingml/2006/main" noGrp="1"/>
          </p:cNvSpPr>
          <p:nvPr/>
        </p:nvSpPr>
        <p:spPr>
          <a:xfrm xmlns:a="http://schemas.openxmlformats.org/drawingml/2006/main">
            <a:off x="685800" y="3028950"/>
            <a:ext cx="287655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A198C9-79C9-4A31-8C16-E1C6EA8890C8}"/>
              </a:ext>
            </a:extLst>
          </p:cNvPr>
          <p:cNvSpPr>
            <a:spLocks xmlns:a="http://schemas.openxmlformats.org/drawingml/2006/main" noGrp="1"/>
          </p:cNvSpPr>
          <p:nvPr/>
        </p:nvSpPr>
        <p:spPr>
          <a:xfrm xmlns:a="http://schemas.openxmlformats.org/drawingml/2006/main">
            <a:off x="685800" y="31337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Tickets and guestlists in one wallet</a:t>
            </a:r>
          </a:p>
        </p:txBody>
      </p:sp>
      <p:sp>
        <p:nvSpPr>
          <p:cNvPr id="11" name="">
            <a:extLst xmlns:a="http://schemas.openxmlformats.org/drawingml/2006/main">
              <a:ext uri="{FF2B5EF4-FFF2-40B4-BE49-F238E27FC236}">
                <a16:creationId xmlns:a16="http://schemas.microsoft.com/office/drawing/2014/main" id="{D1E11FC6-AA34-4B99-8776-BD0F0296CDCB}"/>
              </a:ext>
            </a:extLst>
          </p:cNvPr>
          <p:cNvSpPr>
            <a:spLocks xmlns:a="http://schemas.openxmlformats.org/drawingml/2006/main" noGrp="1"/>
          </p:cNvSpPr>
          <p:nvPr/>
        </p:nvSpPr>
        <p:spPr>
          <a:xfrm xmlns:a="http://schemas.openxmlformats.org/drawingml/2006/main">
            <a:off x="685800" y="3619500"/>
            <a:ext cx="287655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731DA0-7A1D-44FF-861E-78CE8D3EC1F8}"/>
              </a:ext>
            </a:extLst>
          </p:cNvPr>
          <p:cNvSpPr>
            <a:spLocks xmlns:a="http://schemas.openxmlformats.org/drawingml/2006/main" noGrp="1"/>
          </p:cNvSpPr>
          <p:nvPr/>
        </p:nvSpPr>
        <p:spPr>
          <a:xfrm xmlns:a="http://schemas.openxmlformats.org/drawingml/2006/main">
            <a:off x="685800" y="37242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Connections across venues</a:t>
            </a:r>
          </a:p>
        </p:txBody>
      </p:sp>
      <p:sp>
        <p:nvSpPr>
          <p:cNvPr id="13" name="">
            <a:extLst xmlns:a="http://schemas.openxmlformats.org/drawingml/2006/main">
              <a:ext uri="{FF2B5EF4-FFF2-40B4-BE49-F238E27FC236}">
                <a16:creationId xmlns:a16="http://schemas.microsoft.com/office/drawing/2014/main" id="{289C9092-FBFB-4686-A7AC-7A1215B80B58}"/>
              </a:ext>
            </a:extLst>
          </p:cNvPr>
          <p:cNvSpPr>
            <a:spLocks xmlns:a="http://schemas.openxmlformats.org/drawingml/2006/main" noGrp="1"/>
          </p:cNvSpPr>
          <p:nvPr/>
        </p:nvSpPr>
        <p:spPr>
          <a:xfrm xmlns:a="http://schemas.openxmlformats.org/drawingml/2006/main">
            <a:off x="4057650" y="1628775"/>
            <a:ext cx="9525" cy="29527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D136A0-C5E7-4A0E-A436-783E75F13ED2}"/>
              </a:ext>
            </a:extLst>
          </p:cNvPr>
          <p:cNvSpPr>
            <a:spLocks xmlns:a="http://schemas.openxmlformats.org/drawingml/2006/main" noGrp="1"/>
          </p:cNvSpPr>
          <p:nvPr/>
        </p:nvSpPr>
        <p:spPr>
          <a:xfrm xmlns:a="http://schemas.openxmlformats.org/drawingml/2006/main">
            <a:off x="4552950" y="1609725"/>
            <a:ext cx="514350" cy="38100"/>
          </a:xfrm>
          <a:prstGeom xmlns:a="http://schemas.openxmlformats.org/drawingml/2006/main" prst="rect">
            <a:avLst/>
          </a:prstGeom>
          <a:solidFill xmlns:a="http://schemas.openxmlformats.org/drawingml/2006/main">
            <a:srgbClr val="775F9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A4F305-9787-4E5B-8112-F1711342C10A}"/>
              </a:ext>
            </a:extLst>
          </p:cNvPr>
          <p:cNvSpPr>
            <a:spLocks xmlns:a="http://schemas.openxmlformats.org/drawingml/2006/main" noGrp="1"/>
          </p:cNvSpPr>
          <p:nvPr/>
        </p:nvSpPr>
        <p:spPr>
          <a:xfrm xmlns:a="http://schemas.openxmlformats.org/drawingml/2006/main">
            <a:off x="4552950" y="18478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5F2F7"/>
                </a:solidFill>
                <a:latin typeface="Helvetica Neue"/>
                <a:ea typeface="Helvetica Neue"/>
                <a:cs typeface="Helvetica Neue"/>
              </a:defRPr>
            </a:pPr>
            <a:r>
              <a:rPr sz="2100" b="1">
                <a:solidFill>
                  <a:srgbClr val="F5F2F7"/>
                </a:solidFill>
                <a:latin typeface="Helvetica Neue"/>
                <a:ea typeface="Helvetica Neue"/>
                <a:cs typeface="Helvetica Neue"/>
              </a:rPr>
              <a:t>Business</a:t>
            </a:r>
          </a:p>
        </p:txBody>
      </p:sp>
      <p:sp>
        <p:nvSpPr>
          <p:cNvPr id="16" name="">
            <a:extLst xmlns:a="http://schemas.openxmlformats.org/drawingml/2006/main">
              <a:ext uri="{FF2B5EF4-FFF2-40B4-BE49-F238E27FC236}">
                <a16:creationId xmlns:a16="http://schemas.microsoft.com/office/drawing/2014/main" id="{24C9E68B-6193-4E36-91B3-04646C28F56C}"/>
              </a:ext>
            </a:extLst>
          </p:cNvPr>
          <p:cNvSpPr>
            <a:spLocks xmlns:a="http://schemas.openxmlformats.org/drawingml/2006/main" noGrp="1"/>
          </p:cNvSpPr>
          <p:nvPr/>
        </p:nvSpPr>
        <p:spPr>
          <a:xfrm xmlns:a="http://schemas.openxmlformats.org/drawingml/2006/main">
            <a:off x="4552950" y="25431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Timed and sell-through ticket tiers</a:t>
            </a:r>
          </a:p>
        </p:txBody>
      </p:sp>
      <p:sp>
        <p:nvSpPr>
          <p:cNvPr id="17" name="">
            <a:extLst xmlns:a="http://schemas.openxmlformats.org/drawingml/2006/main">
              <a:ext uri="{FF2B5EF4-FFF2-40B4-BE49-F238E27FC236}">
                <a16:creationId xmlns:a16="http://schemas.microsoft.com/office/drawing/2014/main" id="{4AA0E4A7-D372-4596-9607-56CDA5921D62}"/>
              </a:ext>
            </a:extLst>
          </p:cNvPr>
          <p:cNvSpPr>
            <a:spLocks xmlns:a="http://schemas.openxmlformats.org/drawingml/2006/main" noGrp="1"/>
          </p:cNvSpPr>
          <p:nvPr/>
        </p:nvSpPr>
        <p:spPr>
          <a:xfrm xmlns:a="http://schemas.openxmlformats.org/drawingml/2006/main">
            <a:off x="4552950" y="3028950"/>
            <a:ext cx="287655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3CF991-5C5B-4A29-8EC2-143ACC92456D}"/>
              </a:ext>
            </a:extLst>
          </p:cNvPr>
          <p:cNvSpPr>
            <a:spLocks xmlns:a="http://schemas.openxmlformats.org/drawingml/2006/main" noGrp="1"/>
          </p:cNvSpPr>
          <p:nvPr/>
        </p:nvSpPr>
        <p:spPr>
          <a:xfrm xmlns:a="http://schemas.openxmlformats.org/drawingml/2006/main">
            <a:off x="4552950" y="31337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Guestlist pools and team commissions</a:t>
            </a:r>
          </a:p>
        </p:txBody>
      </p:sp>
      <p:sp>
        <p:nvSpPr>
          <p:cNvPr id="19" name="">
            <a:extLst xmlns:a="http://schemas.openxmlformats.org/drawingml/2006/main">
              <a:ext uri="{FF2B5EF4-FFF2-40B4-BE49-F238E27FC236}">
                <a16:creationId xmlns:a16="http://schemas.microsoft.com/office/drawing/2014/main" id="{52E5D618-88CD-4663-B41B-160FEFCFEF43}"/>
              </a:ext>
            </a:extLst>
          </p:cNvPr>
          <p:cNvSpPr>
            <a:spLocks xmlns:a="http://schemas.openxmlformats.org/drawingml/2006/main" noGrp="1"/>
          </p:cNvSpPr>
          <p:nvPr/>
        </p:nvSpPr>
        <p:spPr>
          <a:xfrm xmlns:a="http://schemas.openxmlformats.org/drawingml/2006/main">
            <a:off x="4552950" y="3619500"/>
            <a:ext cx="287655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BAF5E99-3A43-413D-BD6E-AA408ED6B888}"/>
              </a:ext>
            </a:extLst>
          </p:cNvPr>
          <p:cNvSpPr>
            <a:spLocks xmlns:a="http://schemas.openxmlformats.org/drawingml/2006/main" noGrp="1"/>
          </p:cNvSpPr>
          <p:nvPr/>
        </p:nvSpPr>
        <p:spPr>
          <a:xfrm xmlns:a="http://schemas.openxmlformats.org/drawingml/2006/main">
            <a:off x="4552950" y="37242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Event-level sales and attendance</a:t>
            </a:r>
          </a:p>
        </p:txBody>
      </p:sp>
      <p:sp>
        <p:nvSpPr>
          <p:cNvPr id="21" name="">
            <a:extLst xmlns:a="http://schemas.openxmlformats.org/drawingml/2006/main">
              <a:ext uri="{FF2B5EF4-FFF2-40B4-BE49-F238E27FC236}">
                <a16:creationId xmlns:a16="http://schemas.microsoft.com/office/drawing/2014/main" id="{B6FA28E9-20F7-462A-8238-41EB598733AC}"/>
              </a:ext>
            </a:extLst>
          </p:cNvPr>
          <p:cNvSpPr>
            <a:spLocks xmlns:a="http://schemas.openxmlformats.org/drawingml/2006/main" noGrp="1"/>
          </p:cNvSpPr>
          <p:nvPr/>
        </p:nvSpPr>
        <p:spPr>
          <a:xfrm xmlns:a="http://schemas.openxmlformats.org/drawingml/2006/main">
            <a:off x="7924800" y="1628775"/>
            <a:ext cx="9525" cy="29527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B7B5AFE-203D-48E8-A1BA-66D9319BB680}"/>
              </a:ext>
            </a:extLst>
          </p:cNvPr>
          <p:cNvSpPr>
            <a:spLocks xmlns:a="http://schemas.openxmlformats.org/drawingml/2006/main" noGrp="1"/>
          </p:cNvSpPr>
          <p:nvPr/>
        </p:nvSpPr>
        <p:spPr>
          <a:xfrm xmlns:a="http://schemas.openxmlformats.org/drawingml/2006/main">
            <a:off x="8420100" y="1609725"/>
            <a:ext cx="514350" cy="38100"/>
          </a:xfrm>
          <a:prstGeom xmlns:a="http://schemas.openxmlformats.org/drawingml/2006/main" prst="rect">
            <a:avLst/>
          </a:prstGeom>
          <a:solidFill xmlns:a="http://schemas.openxmlformats.org/drawingml/2006/main">
            <a:srgbClr val="D2B16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B30386D-C84A-48C8-8849-CE5C65DAF980}"/>
              </a:ext>
            </a:extLst>
          </p:cNvPr>
          <p:cNvSpPr>
            <a:spLocks xmlns:a="http://schemas.openxmlformats.org/drawingml/2006/main" noGrp="1"/>
          </p:cNvSpPr>
          <p:nvPr/>
        </p:nvSpPr>
        <p:spPr>
          <a:xfrm xmlns:a="http://schemas.openxmlformats.org/drawingml/2006/main">
            <a:off x="8420100" y="18478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5F2F7"/>
                </a:solidFill>
                <a:latin typeface="Helvetica Neue"/>
                <a:ea typeface="Helvetica Neue"/>
                <a:cs typeface="Helvetica Neue"/>
              </a:defRPr>
            </a:pPr>
            <a:r>
              <a:rPr sz="2100" b="1">
                <a:solidFill>
                  <a:srgbClr val="F5F2F7"/>
                </a:solidFill>
                <a:latin typeface="Helvetica Neue"/>
                <a:ea typeface="Helvetica Neue"/>
                <a:cs typeface="Helvetica Neue"/>
              </a:rPr>
              <a:t>Admin</a:t>
            </a:r>
          </a:p>
        </p:txBody>
      </p:sp>
      <p:sp>
        <p:nvSpPr>
          <p:cNvPr id="24" name="">
            <a:extLst xmlns:a="http://schemas.openxmlformats.org/drawingml/2006/main">
              <a:ext uri="{FF2B5EF4-FFF2-40B4-BE49-F238E27FC236}">
                <a16:creationId xmlns:a16="http://schemas.microsoft.com/office/drawing/2014/main" id="{1B01B3CE-F273-4FFE-82A5-719AA7D39C0E}"/>
              </a:ext>
            </a:extLst>
          </p:cNvPr>
          <p:cNvSpPr>
            <a:spLocks xmlns:a="http://schemas.openxmlformats.org/drawingml/2006/main" noGrp="1"/>
          </p:cNvSpPr>
          <p:nvPr/>
        </p:nvSpPr>
        <p:spPr>
          <a:xfrm xmlns:a="http://schemas.openxmlformats.org/drawingml/2006/main">
            <a:off x="8420100" y="25431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Role-scoped oversight and audit trails</a:t>
            </a:r>
          </a:p>
        </p:txBody>
      </p:sp>
      <p:sp>
        <p:nvSpPr>
          <p:cNvPr id="25" name="">
            <a:extLst xmlns:a="http://schemas.openxmlformats.org/drawingml/2006/main">
              <a:ext uri="{FF2B5EF4-FFF2-40B4-BE49-F238E27FC236}">
                <a16:creationId xmlns:a16="http://schemas.microsoft.com/office/drawing/2014/main" id="{F8E8877C-3B18-493B-8704-AB2A98AE5EE1}"/>
              </a:ext>
            </a:extLst>
          </p:cNvPr>
          <p:cNvSpPr>
            <a:spLocks xmlns:a="http://schemas.openxmlformats.org/drawingml/2006/main" noGrp="1"/>
          </p:cNvSpPr>
          <p:nvPr/>
        </p:nvSpPr>
        <p:spPr>
          <a:xfrm xmlns:a="http://schemas.openxmlformats.org/drawingml/2006/main">
            <a:off x="8420100" y="3028950"/>
            <a:ext cx="287655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9AD508E-4C5C-4E08-A380-4DE5D5980D2A}"/>
              </a:ext>
            </a:extLst>
          </p:cNvPr>
          <p:cNvSpPr>
            <a:spLocks xmlns:a="http://schemas.openxmlformats.org/drawingml/2006/main" noGrp="1"/>
          </p:cNvSpPr>
          <p:nvPr/>
        </p:nvSpPr>
        <p:spPr>
          <a:xfrm xmlns:a="http://schemas.openxmlformats.org/drawingml/2006/main">
            <a:off x="8420100" y="31337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Searchable reports and drilldowns</a:t>
            </a:r>
          </a:p>
        </p:txBody>
      </p:sp>
      <p:sp>
        <p:nvSpPr>
          <p:cNvPr id="27" name="">
            <a:extLst xmlns:a="http://schemas.openxmlformats.org/drawingml/2006/main">
              <a:ext uri="{FF2B5EF4-FFF2-40B4-BE49-F238E27FC236}">
                <a16:creationId xmlns:a16="http://schemas.microsoft.com/office/drawing/2014/main" id="{87713D61-44A9-4E58-91FC-3A158DE789BD}"/>
              </a:ext>
            </a:extLst>
          </p:cNvPr>
          <p:cNvSpPr>
            <a:spLocks xmlns:a="http://schemas.openxmlformats.org/drawingml/2006/main" noGrp="1"/>
          </p:cNvSpPr>
          <p:nvPr/>
        </p:nvSpPr>
        <p:spPr>
          <a:xfrm xmlns:a="http://schemas.openxmlformats.org/drawingml/2006/main">
            <a:off x="8420100" y="3619500"/>
            <a:ext cx="287655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143BD84-7DF5-4319-AC72-36F3B7458646}"/>
              </a:ext>
            </a:extLst>
          </p:cNvPr>
          <p:cNvSpPr>
            <a:spLocks xmlns:a="http://schemas.openxmlformats.org/drawingml/2006/main" noGrp="1"/>
          </p:cNvSpPr>
          <p:nvPr/>
        </p:nvSpPr>
        <p:spPr>
          <a:xfrm xmlns:a="http://schemas.openxmlformats.org/drawingml/2006/main">
            <a:off x="8420100" y="37242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Platform-private financial reporting</a:t>
            </a:r>
          </a:p>
        </p:txBody>
      </p:sp>
      <p:sp>
        <p:nvSpPr>
          <p:cNvPr id="29" name="">
            <a:extLst xmlns:a="http://schemas.openxmlformats.org/drawingml/2006/main">
              <a:ext uri="{FF2B5EF4-FFF2-40B4-BE49-F238E27FC236}">
                <a16:creationId xmlns:a16="http://schemas.microsoft.com/office/drawing/2014/main" id="{095FD0FF-D836-45CE-B423-E12CEE8AB3A8}"/>
              </a:ext>
            </a:extLst>
          </p:cNvPr>
          <p:cNvSpPr>
            <a:spLocks xmlns:a="http://schemas.openxmlformats.org/drawingml/2006/main" noGrp="1"/>
          </p:cNvSpPr>
          <p:nvPr/>
        </p:nvSpPr>
        <p:spPr>
          <a:xfrm xmlns:a="http://schemas.openxmlformats.org/drawingml/2006/main">
            <a:off x="685800" y="4972050"/>
            <a:ext cx="38100" cy="552450"/>
          </a:xfrm>
          <a:prstGeom xmlns:a="http://schemas.openxmlformats.org/drawingml/2006/main" prst="rect">
            <a:avLst/>
          </a:prstGeom>
          <a:solidFill xmlns:a="http://schemas.openxmlformats.org/drawingml/2006/main">
            <a:srgbClr val="D2B16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4285C37-7EFD-4C20-A57F-77AAF23EC65E}"/>
              </a:ext>
            </a:extLst>
          </p:cNvPr>
          <p:cNvSpPr>
            <a:spLocks xmlns:a="http://schemas.openxmlformats.org/drawingml/2006/main" noGrp="1"/>
          </p:cNvSpPr>
          <p:nvPr/>
        </p:nvSpPr>
        <p:spPr>
          <a:xfrm xmlns:a="http://schemas.openxmlformats.org/drawingml/2006/main">
            <a:off x="876300" y="4933950"/>
            <a:ext cx="571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Pre-revenue. No live sales yet.</a:t>
            </a:r>
          </a:p>
        </p:txBody>
      </p:sp>
      <p:sp>
        <p:nvSpPr>
          <p:cNvPr id="31" name="">
            <a:extLst xmlns:a="http://schemas.openxmlformats.org/drawingml/2006/main">
              <a:ext uri="{FF2B5EF4-FFF2-40B4-BE49-F238E27FC236}">
                <a16:creationId xmlns:a16="http://schemas.microsoft.com/office/drawing/2014/main" id="{EFA847FB-15EE-4C06-B57A-E7E72912F25D}"/>
              </a:ext>
            </a:extLst>
          </p:cNvPr>
          <p:cNvSpPr>
            <a:spLocks xmlns:a="http://schemas.openxmlformats.org/drawingml/2006/main" noGrp="1"/>
          </p:cNvSpPr>
          <p:nvPr/>
        </p:nvSpPr>
        <p:spPr>
          <a:xfrm xmlns:a="http://schemas.openxmlformats.org/drawingml/2006/main">
            <a:off x="876300" y="52387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Mock checkout creates test records. Next: live payments, operational controls and measured pilot adoption.</a:t>
            </a:r>
          </a:p>
        </p:txBody>
      </p:sp>
    </p:spTree>
    <p:extLst>
      <p:ext uri="{BB962C8B-B14F-4D97-AF65-F5344CB8AC3E}">
        <p14:creationId xmlns:p14="http://schemas.microsoft.com/office/powerpoint/2010/main" val="981128218"/>
      </p:ext>
    </p:extLst>
  </p:cSld>
</p:sld>
</file>

<file path=ppt/slides/slide5.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582590D-9CAA-4FFD-BD55-DFC15B2EFDBE}"/>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BDB7AF-1955-45CB-BE27-C63DEFB2C979}"/>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GO TO MARKET</a:t>
            </a:r>
          </a:p>
        </p:txBody>
      </p:sp>
      <p:sp>
        <p:nvSpPr>
          <p:cNvPr id="3" name="">
            <a:extLst xmlns:a="http://schemas.openxmlformats.org/drawingml/2006/main">
              <a:ext uri="{FF2B5EF4-FFF2-40B4-BE49-F238E27FC236}">
                <a16:creationId xmlns:a16="http://schemas.microsoft.com/office/drawing/2014/main" id="{8DBF0D27-D4B7-4583-9E80-3C374EC57512}"/>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A local venue network is the first market</a:t>
            </a:r>
          </a:p>
        </p:txBody>
      </p:sp>
      <p:sp>
        <p:nvSpPr>
          <p:cNvPr id="4" name="">
            <a:extLst xmlns:a="http://schemas.openxmlformats.org/drawingml/2006/main">
              <a:ext uri="{FF2B5EF4-FFF2-40B4-BE49-F238E27FC236}">
                <a16:creationId xmlns:a16="http://schemas.microsoft.com/office/drawing/2014/main" id="{B0052C25-4D92-488D-8498-3503426A3E87}"/>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BF7DD2-DDFC-4963-B818-8FD51D8DA2B6}"/>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A4D43E1E-5FD9-47A7-97EB-9DC9685A854A}"/>
              </a:ext>
            </a:extLst>
          </p:cNvPr>
          <p:cNvSpPr>
            <a:spLocks xmlns:a="http://schemas.openxmlformats.org/drawingml/2006/main" noGrp="1"/>
          </p:cNvSpPr>
          <p:nvPr/>
        </p:nvSpPr>
        <p:spPr>
          <a:xfrm xmlns:a="http://schemas.openxmlformats.org/drawingml/2006/main">
            <a:off x="685800" y="17621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F5F2F7"/>
                </a:solidFill>
                <a:latin typeface="Helvetica Neue"/>
                <a:ea typeface="Helvetica Neue"/>
                <a:cs typeface="Helvetica Neue"/>
              </a:defRPr>
            </a:pPr>
            <a:r>
              <a:rPr sz="3300" b="1">
                <a:solidFill>
                  <a:srgbClr val="F5F2F7"/>
                </a:solidFill>
                <a:latin typeface="Helvetica Neue"/>
                <a:ea typeface="Helvetica Neue"/>
                <a:cs typeface="Helvetica Neue"/>
              </a:rPr>
              <a:t>Orlando first</a:t>
            </a:r>
          </a:p>
        </p:txBody>
      </p:sp>
      <p:sp>
        <p:nvSpPr>
          <p:cNvPr id="7" name="">
            <a:extLst xmlns:a="http://schemas.openxmlformats.org/drawingml/2006/main">
              <a:ext uri="{FF2B5EF4-FFF2-40B4-BE49-F238E27FC236}">
                <a16:creationId xmlns:a16="http://schemas.microsoft.com/office/drawing/2014/main" id="{3416DE3C-2BA0-46DA-BA3F-ADD5C1A5395B}"/>
              </a:ext>
            </a:extLst>
          </p:cNvPr>
          <p:cNvSpPr>
            <a:spLocks xmlns:a="http://schemas.openxmlformats.org/drawingml/2006/main" noGrp="1"/>
          </p:cNvSpPr>
          <p:nvPr/>
        </p:nvSpPr>
        <p:spPr>
          <a:xfrm xmlns:a="http://schemas.openxmlformats.org/drawingml/2006/main">
            <a:off x="723900" y="26003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B6AFBD"/>
                </a:solidFill>
                <a:latin typeface="Helvetica Neue"/>
                <a:ea typeface="Helvetica Neue"/>
                <a:cs typeface="Helvetica Neue"/>
              </a:defRPr>
            </a:pPr>
            <a:r>
              <a:rPr sz="2025" b="0">
                <a:solidFill>
                  <a:srgbClr val="B6AFBD"/>
                </a:solidFill>
                <a:latin typeface="Helvetica Neue"/>
                <a:ea typeface="Helvetica Neue"/>
                <a:cs typeface="Helvetica Neue"/>
              </a:rPr>
              <a:t>Recurring nightlife venues and the promoters who work across them.</a:t>
            </a:r>
          </a:p>
        </p:txBody>
      </p:sp>
      <p:sp>
        <p:nvSpPr>
          <p:cNvPr id="8" name="">
            <a:extLst xmlns:a="http://schemas.openxmlformats.org/drawingml/2006/main">
              <a:ext uri="{FF2B5EF4-FFF2-40B4-BE49-F238E27FC236}">
                <a16:creationId xmlns:a16="http://schemas.microsoft.com/office/drawing/2014/main" id="{6F5E923B-564A-4667-A90F-BDC62962FE7F}"/>
              </a:ext>
            </a:extLst>
          </p:cNvPr>
          <p:cNvSpPr>
            <a:spLocks xmlns:a="http://schemas.openxmlformats.org/drawingml/2006/main" noGrp="1"/>
          </p:cNvSpPr>
          <p:nvPr/>
        </p:nvSpPr>
        <p:spPr>
          <a:xfrm xmlns:a="http://schemas.openxmlformats.org/drawingml/2006/main">
            <a:off x="723900" y="3714750"/>
            <a:ext cx="4714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B6AFBD"/>
                </a:solidFill>
                <a:latin typeface="Helvetica Neue"/>
                <a:ea typeface="Helvetica Neue"/>
                <a:cs typeface="Helvetica Neue"/>
              </a:defRPr>
            </a:pPr>
            <a:r>
              <a:rPr sz="1575" b="0">
                <a:solidFill>
                  <a:srgbClr val="B6AFBD"/>
                </a:solidFill>
                <a:latin typeface="Helvetica Neue"/>
                <a:ea typeface="Helvetica Neue"/>
                <a:cs typeface="Helvetica Neue"/>
              </a:rPr>
              <a:t>Founder-led onboarding. Start with a small venue cohort, activate its referrers, then bring customers back through Connections.</a:t>
            </a:r>
          </a:p>
        </p:txBody>
      </p:sp>
      <p:sp>
        <p:nvSpPr>
          <p:cNvPr id="9" name="">
            <a:extLst xmlns:a="http://schemas.openxmlformats.org/drawingml/2006/main">
              <a:ext uri="{FF2B5EF4-FFF2-40B4-BE49-F238E27FC236}">
                <a16:creationId xmlns:a16="http://schemas.microsoft.com/office/drawing/2014/main" id="{71FE8CEF-F297-4F68-B8EB-F48BD9EE6B52}"/>
              </a:ext>
            </a:extLst>
          </p:cNvPr>
          <p:cNvSpPr>
            <a:spLocks xmlns:a="http://schemas.openxmlformats.org/drawingml/2006/main" noGrp="1"/>
          </p:cNvSpPr>
          <p:nvPr/>
        </p:nvSpPr>
        <p:spPr>
          <a:xfrm xmlns:a="http://schemas.openxmlformats.org/drawingml/2006/main">
            <a:off x="723900" y="5143500"/>
            <a:ext cx="4714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88818F"/>
                </a:solidFill>
                <a:latin typeface="Helvetica Neue"/>
                <a:ea typeface="Helvetica Neue"/>
                <a:cs typeface="Helvetica Neue"/>
              </a:defRPr>
            </a:pPr>
            <a:r>
              <a:rPr sz="1275" b="0">
                <a:solidFill>
                  <a:srgbClr val="88818F"/>
                </a:solidFill>
                <a:latin typeface="Helvetica Neue"/>
                <a:ea typeface="Helvetica Neue"/>
                <a:cs typeface="Helvetica Neue"/>
              </a:rPr>
              <a:t>Next markets: Tampa, Miami and Fort Lauderdale, gated by pilot economics.</a:t>
            </a:r>
          </a:p>
        </p:txBody>
      </p:sp>
      <p:sp>
        <p:nvSpPr>
          <p:cNvPr id="10" name="">
            <a:extLst xmlns:a="http://schemas.openxmlformats.org/drawingml/2006/main">
              <a:ext uri="{FF2B5EF4-FFF2-40B4-BE49-F238E27FC236}">
                <a16:creationId xmlns:a16="http://schemas.microsoft.com/office/drawing/2014/main" id="{76EA0998-54F1-4636-AD2E-1F9336F10AEB}"/>
              </a:ext>
            </a:extLst>
          </p:cNvPr>
          <p:cNvSpPr>
            <a:spLocks xmlns:a="http://schemas.openxmlformats.org/drawingml/2006/main" noGrp="1"/>
          </p:cNvSpPr>
          <p:nvPr/>
        </p:nvSpPr>
        <p:spPr>
          <a:xfrm xmlns:a="http://schemas.openxmlformats.org/drawingml/2006/main">
            <a:off x="6057900" y="1657350"/>
            <a:ext cx="9525" cy="36766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15C9B48-CC50-46EF-8EDD-F4300065A678}"/>
              </a:ext>
            </a:extLst>
          </p:cNvPr>
          <p:cNvSpPr>
            <a:spLocks xmlns:a="http://schemas.openxmlformats.org/drawingml/2006/main" noGrp="1"/>
          </p:cNvSpPr>
          <p:nvPr/>
        </p:nvSpPr>
        <p:spPr>
          <a:xfrm xmlns:a="http://schemas.openxmlformats.org/drawingml/2006/main">
            <a:off x="6496050" y="174307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Pilot design</a:t>
            </a:r>
          </a:p>
        </p:txBody>
      </p:sp>
      <p:sp>
        <p:nvSpPr>
          <p:cNvPr id="12" name="">
            <a:extLst xmlns:a="http://schemas.openxmlformats.org/drawingml/2006/main">
              <a:ext uri="{FF2B5EF4-FFF2-40B4-BE49-F238E27FC236}">
                <a16:creationId xmlns:a16="http://schemas.microsoft.com/office/drawing/2014/main" id="{7644A5D7-61AB-435D-9160-F9FB8E25AD8C}"/>
              </a:ext>
            </a:extLst>
          </p:cNvPr>
          <p:cNvSpPr>
            <a:spLocks xmlns:a="http://schemas.openxmlformats.org/drawingml/2006/main" noGrp="1"/>
          </p:cNvSpPr>
          <p:nvPr/>
        </p:nvSpPr>
        <p:spPr>
          <a:xfrm xmlns:a="http://schemas.openxmlformats.org/drawingml/2006/main">
            <a:off x="6496050" y="227647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D2B16A"/>
                </a:solidFill>
                <a:latin typeface="Helvetica Neue"/>
                <a:ea typeface="Helvetica Neue"/>
                <a:cs typeface="Helvetica Neue"/>
              </a:defRPr>
            </a:pPr>
            <a:r>
              <a:rPr sz="1950" b="1">
                <a:solidFill>
                  <a:srgbClr val="D2B16A"/>
                </a:solidFill>
                <a:latin typeface="Helvetica Neue"/>
                <a:ea typeface="Helvetica Neue"/>
                <a:cs typeface="Helvetica Neue"/>
              </a:rPr>
              <a:t>Recruit 10–20 venues</a:t>
            </a:r>
          </a:p>
        </p:txBody>
      </p:sp>
      <p:sp>
        <p:nvSpPr>
          <p:cNvPr id="13" name="">
            <a:extLst xmlns:a="http://schemas.openxmlformats.org/drawingml/2006/main">
              <a:ext uri="{FF2B5EF4-FFF2-40B4-BE49-F238E27FC236}">
                <a16:creationId xmlns:a16="http://schemas.microsoft.com/office/drawing/2014/main" id="{DB06E9E5-75E3-4618-BC73-982D54797E84}"/>
              </a:ext>
            </a:extLst>
          </p:cNvPr>
          <p:cNvSpPr>
            <a:spLocks xmlns:a="http://schemas.openxmlformats.org/drawingml/2006/main" noGrp="1"/>
          </p:cNvSpPr>
          <p:nvPr/>
        </p:nvSpPr>
        <p:spPr>
          <a:xfrm xmlns:a="http://schemas.openxmlformats.org/drawingml/2006/main">
            <a:off x="6496050" y="2752725"/>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88818F"/>
                </a:solidFill>
                <a:latin typeface="Helvetica Neue"/>
                <a:ea typeface="Helvetica Neue"/>
                <a:cs typeface="Helvetica Neue"/>
              </a:defRPr>
            </a:pPr>
            <a:r>
              <a:rPr sz="1350" b="0">
                <a:solidFill>
                  <a:srgbClr val="88818F"/>
                </a:solidFill>
                <a:latin typeface="Helvetica Neue"/>
                <a:ea typeface="Helvetica Neue"/>
                <a:cs typeface="Helvetica Neue"/>
              </a:rPr>
              <a:t>A proposed recruitment target, not a signed pipeline.</a:t>
            </a:r>
          </a:p>
        </p:txBody>
      </p:sp>
      <p:sp>
        <p:nvSpPr>
          <p:cNvPr id="14" name="">
            <a:extLst xmlns:a="http://schemas.openxmlformats.org/drawingml/2006/main">
              <a:ext uri="{FF2B5EF4-FFF2-40B4-BE49-F238E27FC236}">
                <a16:creationId xmlns:a16="http://schemas.microsoft.com/office/drawing/2014/main" id="{5C2DF4E3-FCC7-4CC0-8224-494D25BEAEEA}"/>
              </a:ext>
            </a:extLst>
          </p:cNvPr>
          <p:cNvSpPr>
            <a:spLocks xmlns:a="http://schemas.openxmlformats.org/drawingml/2006/main" noGrp="1"/>
          </p:cNvSpPr>
          <p:nvPr/>
        </p:nvSpPr>
        <p:spPr>
          <a:xfrm xmlns:a="http://schemas.openxmlformats.org/drawingml/2006/main">
            <a:off x="6496050" y="3457575"/>
            <a:ext cx="4524375"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8DB4DB-D761-480E-9D8A-24EE53D5EF16}"/>
              </a:ext>
            </a:extLst>
          </p:cNvPr>
          <p:cNvSpPr>
            <a:spLocks xmlns:a="http://schemas.openxmlformats.org/drawingml/2006/main" noGrp="1"/>
          </p:cNvSpPr>
          <p:nvPr/>
        </p:nvSpPr>
        <p:spPr>
          <a:xfrm xmlns:a="http://schemas.openxmlformats.org/drawingml/2006/main">
            <a:off x="6496050" y="37528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Earn the next market</a:t>
            </a:r>
          </a:p>
        </p:txBody>
      </p:sp>
      <p:sp>
        <p:nvSpPr>
          <p:cNvPr id="16" name="">
            <a:extLst xmlns:a="http://schemas.openxmlformats.org/drawingml/2006/main">
              <a:ext uri="{FF2B5EF4-FFF2-40B4-BE49-F238E27FC236}">
                <a16:creationId xmlns:a16="http://schemas.microsoft.com/office/drawing/2014/main" id="{3FF4628C-18C3-491F-B337-0703E1D41135}"/>
              </a:ext>
            </a:extLst>
          </p:cNvPr>
          <p:cNvSpPr>
            <a:spLocks xmlns:a="http://schemas.openxmlformats.org/drawingml/2006/main" noGrp="1"/>
          </p:cNvSpPr>
          <p:nvPr/>
        </p:nvSpPr>
        <p:spPr>
          <a:xfrm xmlns:a="http://schemas.openxmlformats.org/drawingml/2006/main">
            <a:off x="6496050" y="4286250"/>
            <a:ext cx="4572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B6AFBD"/>
                </a:solidFill>
                <a:latin typeface="Helvetica Neue"/>
                <a:ea typeface="Helvetica Neue"/>
                <a:cs typeface="Helvetica Neue"/>
              </a:defRPr>
            </a:pPr>
            <a:r>
              <a:rPr sz="1575" b="0">
                <a:solidFill>
                  <a:srgbClr val="B6AFBD"/>
                </a:solidFill>
                <a:latin typeface="Helvetica Neue"/>
                <a:ea typeface="Helvetica Neue"/>
                <a:cs typeface="Helvetica Neue"/>
              </a:rPr>
              <a:t>Track weekly transacting venues, referred conversion, 60-day repeat bookings and realized contribution per order.</a:t>
            </a:r>
          </a:p>
        </p:txBody>
      </p:sp>
    </p:spTree>
    <p:extLst>
      <p:ext uri="{BB962C8B-B14F-4D97-AF65-F5344CB8AC3E}">
        <p14:creationId xmlns:p14="http://schemas.microsoft.com/office/powerpoint/2010/main" val="129487072"/>
      </p:ext>
    </p:extLst>
  </p:cSld>
</p:sld>
</file>

<file path=ppt/slides/slide6.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E81941-4F4B-436D-9B9C-D85B718065D5}"/>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DC7D58-6A42-44FA-BDEA-19739D574211}"/>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COMPETITIVE POSITION</a:t>
            </a:r>
          </a:p>
        </p:txBody>
      </p:sp>
      <p:sp>
        <p:nvSpPr>
          <p:cNvPr id="3" name="">
            <a:extLst xmlns:a="http://schemas.openxmlformats.org/drawingml/2006/main">
              <a:ext uri="{FF2B5EF4-FFF2-40B4-BE49-F238E27FC236}">
                <a16:creationId xmlns:a16="http://schemas.microsoft.com/office/drawing/2014/main" id="{185F4E03-61D3-4E08-B699-2AACED49A53D}"/>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An integrated workflow for nightlife operators</a:t>
            </a:r>
          </a:p>
        </p:txBody>
      </p:sp>
      <p:sp>
        <p:nvSpPr>
          <p:cNvPr id="4" name="">
            <a:extLst xmlns:a="http://schemas.openxmlformats.org/drawingml/2006/main">
              <a:ext uri="{FF2B5EF4-FFF2-40B4-BE49-F238E27FC236}">
                <a16:creationId xmlns:a16="http://schemas.microsoft.com/office/drawing/2014/main" id="{CD628F45-FB7A-406C-B10F-446EF00F7679}"/>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A572B4-3464-452E-BDAF-8E3570FD2513}"/>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239A9BB5-38C2-49B4-8EC4-D8BA7682A7A0}"/>
              </a:ext>
            </a:extLst>
          </p:cNvPr>
          <p:cNvSpPr>
            <a:spLocks xmlns:a="http://schemas.openxmlformats.org/drawingml/2006/main" noGrp="1"/>
          </p:cNvSpPr>
          <p:nvPr/>
        </p:nvSpPr>
        <p:spPr>
          <a:xfrm xmlns:a="http://schemas.openxmlformats.org/drawingml/2006/main">
            <a:off x="609600" y="13239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6AFBD"/>
                </a:solidFill>
                <a:latin typeface="Helvetica Neue"/>
                <a:ea typeface="Helvetica Neue"/>
                <a:cs typeface="Helvetica Neue"/>
              </a:defRPr>
            </a:pPr>
            <a:r>
              <a:rPr sz="1275" b="0">
                <a:solidFill>
                  <a:srgbClr val="B6AFBD"/>
                </a:solidFill>
                <a:latin typeface="Helvetica Neue"/>
                <a:ea typeface="Helvetica Neue"/>
                <a:cs typeface="Helvetica Neue"/>
              </a:rPr>
              <a:t>Nitewide: Yes = in demo; In dev = planned or in progress. "-" = no equivalent verified in public materials.</a:t>
            </a:r>
          </a:p>
        </p:txBody>
      </p:sp>
      <p:graphicFrame>
        <p:nvGraphicFramePr>
          <p:cNvPr id="14" name=""/>
          <p:cNvGraphicFramePr/>
          <p:nvPr/>
        </p:nvGraphicFramePr>
        <p:xfrm>
          <a:off xmlns:a="http://schemas.openxmlformats.org/drawingml/2006/main" x="609600" y="1781175"/>
          <a:ext xmlns:a="http://schemas.openxmlformats.org/drawingml/2006/main" cx="10972800" cy="3990975"/>
        </p:xfrm>
        <a:graphic xmlns:a="http://schemas.openxmlformats.org/drawingml/2006/main">
          <a:graphicData uri="http://schemas.openxmlformats.org/drawingml/2006/table">
            <a:tbl>
              <a:tblPr firstRow="1" bandRow="1"/>
              <a:tblGrid>
                <a:gridCol w="3105150"/>
                <a:gridCol w="1295400"/>
                <a:gridCol w="1314450"/>
                <a:gridCol w="1314450"/>
                <a:gridCol w="1333500"/>
                <a:gridCol w="1428750"/>
                <a:gridCol w="1181100"/>
              </a:tblGrid>
              <a:tr h="338138">
                <a:tc>
                  <a:txBody>
                    <a:bodyPr wrap="square" lIns="76200" tIns="19050" rIns="47625" bIns="19050">
                      <a:normAutofit/>
                    </a:bodyPr>
                    <a:lstStyle/>
                    <a:p>
                      <a:pPr algn="l"/>
                      <a:r>
                        <a:rPr sz="1163" b="1">
                          <a:solidFill>
                            <a:srgbClr val="F5F2F7"/>
                          </a:solidFill>
                          <a:latin typeface="Helvetica Neue"/>
                          <a:ea typeface="Helvetica Neue"/>
                          <a:cs typeface="Helvetica Neue"/>
                        </a:rPr>
                        <a:t>Capability</a:t>
                      </a:r>
                    </a:p>
                  </a:txBody>
                  <a:tcPr marL="76200" marR="47625" marT="19050" marB="19050" anchor="ctr">
                    <a:solidFill>
                      <a:srgbClr val="29242F"/>
                    </a:solidFill>
                  </a:tcPr>
                </a:tc>
                <a:tc>
                  <a:txBody>
                    <a:bodyPr wrap="square" lIns="38100" tIns="19050" rIns="47625" bIns="19050">
                      <a:normAutofit/>
                    </a:bodyPr>
                    <a:lstStyle/>
                    <a:p>
                      <a:pPr algn="ctr"/>
                      <a:r>
                        <a:rPr sz="1163" b="1">
                          <a:solidFill>
                            <a:srgbClr val="D2B16A"/>
                          </a:solidFill>
                          <a:latin typeface="Helvetica Neue"/>
                          <a:ea typeface="Helvetica Neue"/>
                          <a:cs typeface="Helvetica Neue"/>
                        </a:rPr>
                        <a:t>Nitewide</a:t>
                      </a:r>
                    </a:p>
                  </a:txBody>
                  <a:tcPr marL="76200" marR="47625" marT="19050" marB="19050" anchor="ctr">
                    <a:solidFill>
                      <a:srgbClr val="29242F"/>
                    </a:solidFill>
                  </a:tcPr>
                </a:tc>
                <a:tc>
                  <a:txBody>
                    <a:bodyPr wrap="square" lIns="38100" tIns="19050" rIns="47625" bIns="19050">
                      <a:normAutofit/>
                    </a:bodyPr>
                    <a:lstStyle/>
                    <a:p>
                      <a:pPr algn="ctr"/>
                      <a:r>
                        <a:rPr sz="1163" b="1">
                          <a:solidFill>
                            <a:srgbClr val="F5F2F7"/>
                          </a:solidFill>
                          <a:latin typeface="Helvetica Neue"/>
                          <a:ea typeface="Helvetica Neue"/>
                          <a:cs typeface="Helvetica Neue"/>
                        </a:rPr>
                        <a:t>Posh</a:t>
                      </a:r>
                    </a:p>
                  </a:txBody>
                  <a:tcPr marL="76200" marR="47625" marT="19050" marB="19050" anchor="ctr">
                    <a:solidFill>
                      <a:srgbClr val="29242F"/>
                    </a:solidFill>
                  </a:tcPr>
                </a:tc>
                <a:tc>
                  <a:txBody>
                    <a:bodyPr wrap="square" lIns="38100" tIns="19050" rIns="47625" bIns="19050">
                      <a:normAutofit/>
                    </a:bodyPr>
                    <a:lstStyle/>
                    <a:p>
                      <a:pPr algn="ctr"/>
                      <a:r>
                        <a:rPr sz="1163" b="1">
                          <a:solidFill>
                            <a:srgbClr val="F5F2F7"/>
                          </a:solidFill>
                          <a:latin typeface="Helvetica Neue"/>
                          <a:ea typeface="Helvetica Neue"/>
                          <a:cs typeface="Helvetica Neue"/>
                        </a:rPr>
                        <a:t>Discotech</a:t>
                      </a:r>
                    </a:p>
                  </a:txBody>
                  <a:tcPr marL="76200" marR="47625" marT="19050" marB="19050" anchor="ctr">
                    <a:solidFill>
                      <a:srgbClr val="29242F"/>
                    </a:solidFill>
                  </a:tcPr>
                </a:tc>
                <a:tc>
                  <a:txBody>
                    <a:bodyPr wrap="square" lIns="38100" tIns="19050" rIns="47625" bIns="19050">
                      <a:normAutofit/>
                    </a:bodyPr>
                    <a:lstStyle/>
                    <a:p>
                      <a:pPr algn="ctr"/>
                      <a:r>
                        <a:rPr sz="1163" b="1">
                          <a:solidFill>
                            <a:srgbClr val="F5F2F7"/>
                          </a:solidFill>
                          <a:latin typeface="Helvetica Neue"/>
                          <a:ea typeface="Helvetica Neue"/>
                          <a:cs typeface="Helvetica Neue"/>
                        </a:rPr>
                        <a:t>Eventbrite</a:t>
                      </a:r>
                    </a:p>
                  </a:txBody>
                  <a:tcPr marL="76200" marR="47625" marT="19050" marB="19050" anchor="ctr">
                    <a:solidFill>
                      <a:srgbClr val="29242F"/>
                    </a:solidFill>
                  </a:tcPr>
                </a:tc>
                <a:tc>
                  <a:txBody>
                    <a:bodyPr wrap="square" lIns="38100" tIns="19050" rIns="47625" bIns="19050">
                      <a:normAutofit/>
                    </a:bodyPr>
                    <a:lstStyle/>
                    <a:p>
                      <a:pPr algn="ctr"/>
                      <a:r>
                        <a:rPr sz="1163" b="1">
                          <a:solidFill>
                            <a:srgbClr val="F5F2F7"/>
                          </a:solidFill>
                          <a:latin typeface="Helvetica Neue"/>
                          <a:ea typeface="Helvetica Neue"/>
                          <a:cs typeface="Helvetica Neue"/>
                        </a:rPr>
                        <a:t>Sections.app</a:t>
                      </a:r>
                    </a:p>
                  </a:txBody>
                  <a:tcPr marL="76200" marR="47625" marT="19050" marB="19050" anchor="ctr">
                    <a:solidFill>
                      <a:srgbClr val="29242F"/>
                    </a:solidFill>
                  </a:tcPr>
                </a:tc>
                <a:tc>
                  <a:txBody>
                    <a:bodyPr wrap="square" lIns="38100" tIns="19050" rIns="47625" bIns="19050">
                      <a:normAutofit/>
                    </a:bodyPr>
                    <a:lstStyle/>
                    <a:p>
                      <a:pPr algn="ctr"/>
                      <a:r>
                        <a:rPr sz="1163" b="1">
                          <a:solidFill>
                            <a:srgbClr val="F5F2F7"/>
                          </a:solidFill>
                          <a:latin typeface="Helvetica Neue"/>
                          <a:ea typeface="Helvetica Neue"/>
                          <a:cs typeface="Helvetica Neue"/>
                        </a:rPr>
                        <a:t>Tabler</a:t>
                      </a:r>
                    </a:p>
                  </a:txBody>
                  <a:tcPr marL="76200" marR="47625" marT="19050" marB="19050" anchor="ctr">
                    <a:solidFill>
                      <a:srgbClr val="29242F"/>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Nightlife discovery and booking</a:t>
                      </a:r>
                    </a:p>
                  </a:txBody>
                  <a:tcPr marL="76200" marR="47625" marT="19050" marB="19050" anchor="ctr">
                    <a:solidFill>
                      <a:srgbClr val="17151B"/>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02735"/>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Ticket tiers and timed offers</a:t>
                      </a:r>
                    </a:p>
                  </a:txBody>
                  <a:tcPr marL="76200" marR="47625" marT="19050" marB="19050" anchor="ctr">
                    <a:solidFill>
                      <a:srgbClr val="1D1A22"/>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52B3C"/>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Guestlists and capacity</a:t>
                      </a:r>
                    </a:p>
                  </a:txBody>
                  <a:tcPr marL="76200" marR="47625" marT="19050" marB="19050" anchor="ctr">
                    <a:solidFill>
                      <a:srgbClr val="17151B"/>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02735"/>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General</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Promoter attribution and commissions</a:t>
                      </a:r>
                    </a:p>
                  </a:txBody>
                  <a:tcPr marL="76200" marR="47625" marT="19050" marB="19050" anchor="ctr">
                    <a:solidFill>
                      <a:srgbClr val="1D1A22"/>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52B3C"/>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Tracking</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Team roles and performance analytics</a:t>
                      </a:r>
                    </a:p>
                  </a:txBody>
                  <a:tcPr marL="76200" marR="47625" marT="19050" marB="19050" anchor="ctr">
                    <a:solidFill>
                      <a:srgbClr val="17151B"/>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02735"/>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QR admission and check-in</a:t>
                      </a:r>
                    </a:p>
                  </a:txBody>
                  <a:tcPr marL="76200" marR="47625" marT="19050" marB="19050" anchor="ctr">
                    <a:solidFill>
                      <a:srgbClr val="1D1A22"/>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52B3C"/>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Cross-venue bookings with a promoter</a:t>
                      </a:r>
                    </a:p>
                  </a:txBody>
                  <a:tcPr marL="76200" marR="47625" marT="19050" marB="19050" anchor="ctr">
                    <a:solidFill>
                      <a:srgbClr val="17151B"/>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02735"/>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Guestlist claim after signup</a:t>
                      </a:r>
                    </a:p>
                  </a:txBody>
                  <a:tcPr marL="76200" marR="47625" marT="19050" marB="19050" anchor="ctr">
                    <a:solidFill>
                      <a:srgbClr val="1D1A22"/>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52B3C"/>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Individualized commissions and reporting</a:t>
                      </a:r>
                    </a:p>
                  </a:txBody>
                  <a:tcPr marL="76200" marR="47625" marT="19050" marB="19050" anchor="ctr">
                    <a:solidFill>
                      <a:srgbClr val="17151B"/>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02735"/>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Competitor caps with a margin floor</a:t>
                      </a:r>
                    </a:p>
                  </a:txBody>
                  <a:tcPr marL="76200" marR="47625" marT="19050" marB="19050" anchor="ctr">
                    <a:solidFill>
                      <a:srgbClr val="1D1A22"/>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Yes</a:t>
                      </a:r>
                    </a:p>
                  </a:txBody>
                  <a:tcPr marL="76200" marR="47625" marT="19050" marB="19050" anchor="ctr">
                    <a:solidFill>
                      <a:srgbClr val="352B3C"/>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Cross-venue rebooking automation</a:t>
                      </a:r>
                    </a:p>
                  </a:txBody>
                  <a:tcPr marL="76200" marR="47625" marT="19050" marB="19050" anchor="ctr">
                    <a:solidFill>
                      <a:srgbClr val="17151B"/>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In dev</a:t>
                      </a:r>
                    </a:p>
                  </a:txBody>
                  <a:tcPr marL="76200" marR="47625" marT="19050" marB="19050" anchor="ctr">
                    <a:solidFill>
                      <a:srgbClr val="302735"/>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7151B"/>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Messaging and CRM</a:t>
                      </a:r>
                    </a:p>
                  </a:txBody>
                  <a:tcPr marL="76200" marR="47625" marT="19050" marB="19050" anchor="ctr">
                    <a:solidFill>
                      <a:srgbClr val="1D1A22"/>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In dev</a:t>
                      </a:r>
                    </a:p>
                  </a:txBody>
                  <a:tcPr marL="76200" marR="47625" marT="19050" marB="19050" anchor="ctr">
                    <a:solidFill>
                      <a:srgbClr val="352B3C"/>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D1A22"/>
                    </a:solidFill>
                  </a:tcPr>
                </a:tc>
              </a:tr>
              <a:tr h="280988">
                <a:tc>
                  <a:txBody>
                    <a:bodyPr wrap="square" lIns="76200" tIns="19050" rIns="47625" bIns="19050">
                      <a:normAutofit/>
                    </a:bodyPr>
                    <a:lstStyle/>
                    <a:p>
                      <a:pPr algn="l"/>
                      <a:r>
                        <a:rPr sz="1088" b="1">
                          <a:solidFill>
                            <a:srgbClr val="B6AFBD"/>
                          </a:solidFill>
                          <a:latin typeface="Helvetica Neue"/>
                          <a:ea typeface="Helvetica Neue"/>
                          <a:cs typeface="Helvetica Neue"/>
                        </a:rPr>
                        <a:t>Live payments and payouts</a:t>
                      </a:r>
                    </a:p>
                  </a:txBody>
                  <a:tcPr marL="76200" marR="47625" marT="19050" marB="19050" anchor="ctr">
                    <a:solidFill>
                      <a:srgbClr val="17151B"/>
                    </a:solidFill>
                  </a:tcPr>
                </a:tc>
                <a:tc>
                  <a:txBody>
                    <a:bodyPr wrap="square" lIns="38100" tIns="19050" rIns="47625" bIns="19050">
                      <a:normAutofit/>
                    </a:bodyPr>
                    <a:lstStyle/>
                    <a:p>
                      <a:pPr algn="ctr"/>
                      <a:r>
                        <a:rPr sz="1088" b="1">
                          <a:solidFill>
                            <a:srgbClr val="F5F2F7"/>
                          </a:solidFill>
                          <a:latin typeface="Helvetica Neue"/>
                          <a:ea typeface="Helvetica Neue"/>
                          <a:cs typeface="Helvetica Neue"/>
                        </a:rPr>
                        <a:t>In dev</a:t>
                      </a:r>
                    </a:p>
                  </a:txBody>
                  <a:tcPr marL="76200" marR="47625" marT="19050" marB="19050" anchor="ctr">
                    <a:solidFill>
                      <a:srgbClr val="302735"/>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Checkout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Checkout</a:t>
                      </a:r>
                    </a:p>
                  </a:txBody>
                  <a:tcPr marL="76200" marR="47625" marT="19050" marB="19050" anchor="ctr">
                    <a:solidFill>
                      <a:srgbClr val="17151B"/>
                    </a:solidFill>
                  </a:tcPr>
                </a:tc>
                <a:tc>
                  <a:txBody>
                    <a:bodyPr wrap="square" lIns="38100" tIns="19050" rIns="47625" bIns="19050">
                      <a:normAutofit/>
                    </a:bodyPr>
                    <a:lstStyle/>
                    <a:p>
                      <a:pPr algn="ctr"/>
                      <a:r>
                        <a:rPr sz="1088" b="0">
                          <a:solidFill>
                            <a:srgbClr val="F5F2F7"/>
                          </a:solidFill>
                          <a:latin typeface="Helvetica Neue"/>
                          <a:ea typeface="Helvetica Neue"/>
                          <a:cs typeface="Helvetica Neue"/>
                        </a:rPr>
                        <a:t>Yes</a:t>
                      </a:r>
                    </a:p>
                  </a:txBody>
                  <a:tcPr marL="76200" marR="47625" marT="19050" marB="19050" anchor="ctr">
                    <a:solidFill>
                      <a:srgbClr val="17151B"/>
                    </a:solidFill>
                  </a:tcPr>
                </a:tc>
              </a:tr>
            </a:tbl>
          </a:graphicData>
        </a:graphic>
      </p:graphicFrame>
    </p:spTree>
    <p:extLst>
      <p:ext uri="{BB962C8B-B14F-4D97-AF65-F5344CB8AC3E}">
        <p14:creationId xmlns:p14="http://schemas.microsoft.com/office/powerpoint/2010/main" val="1474428115"/>
      </p:ext>
    </p:extLst>
  </p:cSld>
</p:sld>
</file>

<file path=ppt/slides/slide7.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55C9F69-FCD2-44BF-8AC3-F9D32CF3500E}"/>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13DD5D-93F6-412C-90D5-A308F39A8B2B}"/>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BUSINESS MODEL</a:t>
            </a:r>
          </a:p>
        </p:txBody>
      </p:sp>
      <p:sp>
        <p:nvSpPr>
          <p:cNvPr id="3" name="">
            <a:extLst xmlns:a="http://schemas.openxmlformats.org/drawingml/2006/main">
              <a:ext uri="{FF2B5EF4-FFF2-40B4-BE49-F238E27FC236}">
                <a16:creationId xmlns:a16="http://schemas.microsoft.com/office/drawing/2014/main" id="{3DC5E1B3-2E9F-4621-974B-9E1F422A91CB}"/>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Buyer savings with protected venue proceeds</a:t>
            </a:r>
          </a:p>
        </p:txBody>
      </p:sp>
      <p:sp>
        <p:nvSpPr>
          <p:cNvPr id="4" name="">
            <a:extLst xmlns:a="http://schemas.openxmlformats.org/drawingml/2006/main">
              <a:ext uri="{FF2B5EF4-FFF2-40B4-BE49-F238E27FC236}">
                <a16:creationId xmlns:a16="http://schemas.microsoft.com/office/drawing/2014/main" id="{09F6FD42-B780-4E33-AA49-5B137DC1267D}"/>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48D81D-25C8-4478-9425-0FB2B44717C2}"/>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9EA4D5F3-189B-4B05-9877-46B88D463845}"/>
              </a:ext>
            </a:extLst>
          </p:cNvPr>
          <p:cNvSpPr>
            <a:spLocks xmlns:a="http://schemas.openxmlformats.org/drawingml/2006/main" noGrp="1"/>
          </p:cNvSpPr>
          <p:nvPr/>
        </p:nvSpPr>
        <p:spPr>
          <a:xfrm xmlns:a="http://schemas.openxmlformats.org/drawingml/2006/main">
            <a:off x="609600" y="1362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6AFBD"/>
                </a:solidFill>
                <a:latin typeface="Helvetica Neue"/>
                <a:ea typeface="Helvetica Neue"/>
                <a:cs typeface="Helvetica Neue"/>
              </a:defRPr>
            </a:pPr>
            <a:r>
              <a:rPr sz="1275" b="0">
                <a:solidFill>
                  <a:srgbClr val="B6AFBD"/>
                </a:solidFill>
                <a:latin typeface="Helvetica Neue"/>
                <a:ea typeface="Helvetica Neue"/>
                <a:cs typeface="Helvetica Neue"/>
              </a:rPr>
              <a:t>Standard fee: 8% + $0.80 per paid unit. Target: 2% lower buyer fees. Hard $1 contribution overrides price targets.</a:t>
            </a:r>
          </a:p>
          <a:p xmlns:a="http://schemas.openxmlformats.org/drawingml/2006/main">
            <a:pPr algn="l">
              <a:defRPr sz="1275" b="0">
                <a:solidFill>
                  <a:srgbClr val="B6AFBD"/>
                </a:solidFill>
                <a:latin typeface="Helvetica Neue"/>
                <a:ea typeface="Helvetica Neue"/>
                <a:cs typeface="Helvetica Neue"/>
              </a:defRPr>
            </a:pPr>
            <a:r>
              <a:rPr sz="1275" b="0">
                <a:solidFill>
                  <a:srgbClr val="B6AFBD"/>
                </a:solidFill>
                <a:latin typeface="Helvetica Neue"/>
                <a:ea typeface="Helvetica Neue"/>
                <a:cs typeface="Helvetica Neue"/>
              </a:rPr>
              <a:t>5% contribution is preferred. Nitewide pays Stripe. Premium: $249/month. Planned promoter reward fee: 10%.</a:t>
            </a:r>
          </a:p>
        </p:txBody>
      </p:sp>
      <p:sp>
        <p:nvSpPr>
          <p:cNvPr id="7" name="">
            <a:extLst xmlns:a="http://schemas.openxmlformats.org/drawingml/2006/main">
              <a:ext uri="{FF2B5EF4-FFF2-40B4-BE49-F238E27FC236}">
                <a16:creationId xmlns:a16="http://schemas.microsoft.com/office/drawing/2014/main" id="{2127C17D-EB07-470E-822F-64B5AB5A5308}"/>
              </a:ext>
            </a:extLst>
          </p:cNvPr>
          <p:cNvSpPr>
            <a:spLocks xmlns:a="http://schemas.openxmlformats.org/drawingml/2006/main" noGrp="1"/>
          </p:cNvSpPr>
          <p:nvPr/>
        </p:nvSpPr>
        <p:spPr>
          <a:xfrm xmlns:a="http://schemas.openxmlformats.org/drawingml/2006/main">
            <a:off x="704850" y="19431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8818F"/>
                </a:solidFill>
                <a:latin typeface="Helvetica Neue"/>
                <a:ea typeface="Helvetica Neue"/>
                <a:cs typeface="Helvetica Neue"/>
              </a:defRPr>
            </a:pPr>
            <a:r>
              <a:rPr sz="1050" b="1">
                <a:solidFill>
                  <a:srgbClr val="88818F"/>
                </a:solidFill>
                <a:latin typeface="Helvetica Neue"/>
                <a:ea typeface="Helvetica Neue"/>
                <a:cs typeface="Helvetica Neue"/>
              </a:rPr>
              <a:t>PURCHASE</a:t>
            </a:r>
          </a:p>
        </p:txBody>
      </p:sp>
      <p:sp>
        <p:nvSpPr>
          <p:cNvPr id="8" name="">
            <a:extLst xmlns:a="http://schemas.openxmlformats.org/drawingml/2006/main">
              <a:ext uri="{FF2B5EF4-FFF2-40B4-BE49-F238E27FC236}">
                <a16:creationId xmlns:a16="http://schemas.microsoft.com/office/drawing/2014/main" id="{94AD60D6-6B0C-46C9-83C8-E8E0480C0005}"/>
              </a:ext>
            </a:extLst>
          </p:cNvPr>
          <p:cNvSpPr>
            <a:spLocks xmlns:a="http://schemas.openxmlformats.org/drawingml/2006/main" noGrp="1"/>
          </p:cNvSpPr>
          <p:nvPr/>
        </p:nvSpPr>
        <p:spPr>
          <a:xfrm xmlns:a="http://schemas.openxmlformats.org/drawingml/2006/main">
            <a:off x="3476625" y="1943100"/>
            <a:ext cx="2428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NITEWIDE</a:t>
            </a:r>
          </a:p>
        </p:txBody>
      </p:sp>
      <p:sp>
        <p:nvSpPr>
          <p:cNvPr id="9" name="">
            <a:extLst xmlns:a="http://schemas.openxmlformats.org/drawingml/2006/main">
              <a:ext uri="{FF2B5EF4-FFF2-40B4-BE49-F238E27FC236}">
                <a16:creationId xmlns:a16="http://schemas.microsoft.com/office/drawing/2014/main" id="{5F7329B5-FC80-4785-9179-FCD79C069EFB}"/>
              </a:ext>
            </a:extLst>
          </p:cNvPr>
          <p:cNvSpPr>
            <a:spLocks xmlns:a="http://schemas.openxmlformats.org/drawingml/2006/main" noGrp="1"/>
          </p:cNvSpPr>
          <p:nvPr/>
        </p:nvSpPr>
        <p:spPr>
          <a:xfrm xmlns:a="http://schemas.openxmlformats.org/drawingml/2006/main">
            <a:off x="3476625" y="2238375"/>
            <a:ext cx="2428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6AFBD"/>
                </a:solidFill>
                <a:latin typeface="Helvetica Neue"/>
                <a:ea typeface="Helvetica Neue"/>
                <a:cs typeface="Helvetica Neue"/>
              </a:defRPr>
            </a:pPr>
            <a:r>
              <a:rPr sz="1125" b="0">
                <a:solidFill>
                  <a:srgbClr val="B6AFBD"/>
                </a:solidFill>
                <a:latin typeface="Helvetica Neue"/>
                <a:ea typeface="Helvetica Neue"/>
                <a:cs typeface="Helvetica Neue"/>
              </a:rPr>
              <a:t>Standard 8% + $0.80 / paid unit</a:t>
            </a:r>
          </a:p>
        </p:txBody>
      </p:sp>
      <p:sp>
        <p:nvSpPr>
          <p:cNvPr id="10" name="">
            <a:extLst xmlns:a="http://schemas.openxmlformats.org/drawingml/2006/main">
              <a:ext uri="{FF2B5EF4-FFF2-40B4-BE49-F238E27FC236}">
                <a16:creationId xmlns:a16="http://schemas.microsoft.com/office/drawing/2014/main" id="{2B8AD3FB-A0A1-431A-9623-3371F49858AC}"/>
              </a:ext>
            </a:extLst>
          </p:cNvPr>
          <p:cNvSpPr>
            <a:spLocks xmlns:a="http://schemas.openxmlformats.org/drawingml/2006/main" noGrp="1"/>
          </p:cNvSpPr>
          <p:nvPr/>
        </p:nvSpPr>
        <p:spPr>
          <a:xfrm xmlns:a="http://schemas.openxmlformats.org/drawingml/2006/main">
            <a:off x="3476625" y="2457450"/>
            <a:ext cx="2428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88818F"/>
                </a:solidFill>
                <a:latin typeface="Helvetica Neue"/>
                <a:ea typeface="Helvetica Neue"/>
                <a:cs typeface="Helvetica Neue"/>
              </a:defRPr>
            </a:pPr>
            <a:r>
              <a:rPr sz="1050" b="0">
                <a:solidFill>
                  <a:srgbClr val="88818F"/>
                </a:solidFill>
                <a:latin typeface="Helvetica Neue"/>
                <a:ea typeface="Helvetica Neue"/>
                <a:cs typeface="Helvetica Neue"/>
              </a:rPr>
              <a:t>Nitewide pays Stripe</a:t>
            </a:r>
          </a:p>
        </p:txBody>
      </p:sp>
      <p:sp>
        <p:nvSpPr>
          <p:cNvPr id="11" name="">
            <a:extLst xmlns:a="http://schemas.openxmlformats.org/drawingml/2006/main">
              <a:ext uri="{FF2B5EF4-FFF2-40B4-BE49-F238E27FC236}">
                <a16:creationId xmlns:a16="http://schemas.microsoft.com/office/drawing/2014/main" id="{988631B5-9D05-42EE-BD24-A8C6E07BD8CE}"/>
              </a:ext>
            </a:extLst>
          </p:cNvPr>
          <p:cNvSpPr>
            <a:spLocks xmlns:a="http://schemas.openxmlformats.org/drawingml/2006/main" noGrp="1"/>
          </p:cNvSpPr>
          <p:nvPr/>
        </p:nvSpPr>
        <p:spPr>
          <a:xfrm xmlns:a="http://schemas.openxmlformats.org/drawingml/2006/main">
            <a:off x="6191250" y="1943100"/>
            <a:ext cx="2428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5F2F7"/>
                </a:solidFill>
                <a:latin typeface="Helvetica Neue"/>
                <a:ea typeface="Helvetica Neue"/>
                <a:cs typeface="Helvetica Neue"/>
              </a:defRPr>
            </a:pPr>
            <a:r>
              <a:rPr sz="1350" b="1">
                <a:solidFill>
                  <a:srgbClr val="F5F2F7"/>
                </a:solidFill>
                <a:latin typeface="Helvetica Neue"/>
                <a:ea typeface="Helvetica Neue"/>
                <a:cs typeface="Helvetica Neue"/>
              </a:rPr>
              <a:t>POSH</a:t>
            </a:r>
          </a:p>
        </p:txBody>
      </p:sp>
      <p:sp>
        <p:nvSpPr>
          <p:cNvPr id="12" name="">
            <a:extLst xmlns:a="http://schemas.openxmlformats.org/drawingml/2006/main">
              <a:ext uri="{FF2B5EF4-FFF2-40B4-BE49-F238E27FC236}">
                <a16:creationId xmlns:a16="http://schemas.microsoft.com/office/drawing/2014/main" id="{2D17AA49-9464-4E40-AF4C-2F892966E522}"/>
              </a:ext>
            </a:extLst>
          </p:cNvPr>
          <p:cNvSpPr>
            <a:spLocks xmlns:a="http://schemas.openxmlformats.org/drawingml/2006/main" noGrp="1"/>
          </p:cNvSpPr>
          <p:nvPr/>
        </p:nvSpPr>
        <p:spPr>
          <a:xfrm xmlns:a="http://schemas.openxmlformats.org/drawingml/2006/main">
            <a:off x="6191250" y="2238375"/>
            <a:ext cx="2428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6AFBD"/>
                </a:solidFill>
                <a:latin typeface="Helvetica Neue"/>
                <a:ea typeface="Helvetica Neue"/>
                <a:cs typeface="Helvetica Neue"/>
              </a:defRPr>
            </a:pPr>
            <a:r>
              <a:rPr sz="1125" b="0">
                <a:solidFill>
                  <a:srgbClr val="B6AFBD"/>
                </a:solidFill>
                <a:latin typeface="Helvetica Neue"/>
                <a:ea typeface="Helvetica Neue"/>
                <a:cs typeface="Helvetica Neue"/>
              </a:rPr>
              <a:t>10% + $0.99 / paid ticket</a:t>
            </a:r>
          </a:p>
        </p:txBody>
      </p:sp>
      <p:sp>
        <p:nvSpPr>
          <p:cNvPr id="13" name="">
            <a:extLst xmlns:a="http://schemas.openxmlformats.org/drawingml/2006/main">
              <a:ext uri="{FF2B5EF4-FFF2-40B4-BE49-F238E27FC236}">
                <a16:creationId xmlns:a16="http://schemas.microsoft.com/office/drawing/2014/main" id="{FB422217-05FA-45F5-A896-1EAA9B38B4D7}"/>
              </a:ext>
            </a:extLst>
          </p:cNvPr>
          <p:cNvSpPr>
            <a:spLocks xmlns:a="http://schemas.openxmlformats.org/drawingml/2006/main" noGrp="1"/>
          </p:cNvSpPr>
          <p:nvPr/>
        </p:nvSpPr>
        <p:spPr>
          <a:xfrm xmlns:a="http://schemas.openxmlformats.org/drawingml/2006/main">
            <a:off x="6191250" y="2457450"/>
            <a:ext cx="2428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88818F"/>
                </a:solidFill>
                <a:latin typeface="Helvetica Neue"/>
                <a:ea typeface="Helvetica Neue"/>
                <a:cs typeface="Helvetica Neue"/>
              </a:defRPr>
            </a:pPr>
            <a:r>
              <a:rPr sz="1050" b="0">
                <a:solidFill>
                  <a:srgbClr val="88818F"/>
                </a:solidFill>
                <a:latin typeface="Helvetica Neue"/>
                <a:ea typeface="Helvetica Neue"/>
                <a:cs typeface="Helvetica Neue"/>
              </a:rPr>
              <a:t>All-in fee; processing included</a:t>
            </a:r>
          </a:p>
        </p:txBody>
      </p:sp>
      <p:sp>
        <p:nvSpPr>
          <p:cNvPr id="14" name="">
            <a:extLst xmlns:a="http://schemas.openxmlformats.org/drawingml/2006/main">
              <a:ext uri="{FF2B5EF4-FFF2-40B4-BE49-F238E27FC236}">
                <a16:creationId xmlns:a16="http://schemas.microsoft.com/office/drawing/2014/main" id="{056D2EC3-CA7F-485B-AC16-7159895435CC}"/>
              </a:ext>
            </a:extLst>
          </p:cNvPr>
          <p:cNvSpPr>
            <a:spLocks xmlns:a="http://schemas.openxmlformats.org/drawingml/2006/main" noGrp="1"/>
          </p:cNvSpPr>
          <p:nvPr/>
        </p:nvSpPr>
        <p:spPr>
          <a:xfrm xmlns:a="http://schemas.openxmlformats.org/drawingml/2006/main">
            <a:off x="8905875" y="1943100"/>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5F2F7"/>
                </a:solidFill>
                <a:latin typeface="Helvetica Neue"/>
                <a:ea typeface="Helvetica Neue"/>
                <a:cs typeface="Helvetica Neue"/>
              </a:defRPr>
            </a:pPr>
            <a:r>
              <a:rPr sz="1350" b="1">
                <a:solidFill>
                  <a:srgbClr val="F5F2F7"/>
                </a:solidFill>
                <a:latin typeface="Helvetica Neue"/>
                <a:ea typeface="Helvetica Neue"/>
                <a:cs typeface="Helvetica Neue"/>
              </a:rPr>
              <a:t>EVENTBRITE</a:t>
            </a:r>
          </a:p>
        </p:txBody>
      </p:sp>
      <p:sp>
        <p:nvSpPr>
          <p:cNvPr id="15" name="">
            <a:extLst xmlns:a="http://schemas.openxmlformats.org/drawingml/2006/main">
              <a:ext uri="{FF2B5EF4-FFF2-40B4-BE49-F238E27FC236}">
                <a16:creationId xmlns:a16="http://schemas.microsoft.com/office/drawing/2014/main" id="{420FCEEF-13CD-46F0-9B7F-BD2FFB634200}"/>
              </a:ext>
            </a:extLst>
          </p:cNvPr>
          <p:cNvSpPr>
            <a:spLocks xmlns:a="http://schemas.openxmlformats.org/drawingml/2006/main" noGrp="1"/>
          </p:cNvSpPr>
          <p:nvPr/>
        </p:nvSpPr>
        <p:spPr>
          <a:xfrm xmlns:a="http://schemas.openxmlformats.org/drawingml/2006/main">
            <a:off x="8905875" y="2238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6AFBD"/>
                </a:solidFill>
                <a:latin typeface="Helvetica Neue"/>
                <a:ea typeface="Helvetica Neue"/>
                <a:cs typeface="Helvetica Neue"/>
              </a:defRPr>
            </a:pPr>
            <a:r>
              <a:rPr sz="1125" b="0">
                <a:solidFill>
                  <a:srgbClr val="B6AFBD"/>
                </a:solidFill>
                <a:latin typeface="Helvetica Neue"/>
                <a:ea typeface="Helvetica Neue"/>
                <a:cs typeface="Helvetica Neue"/>
              </a:rPr>
              <a:t>3.7% + $1.79 / ticket</a:t>
            </a:r>
          </a:p>
        </p:txBody>
      </p:sp>
      <p:sp>
        <p:nvSpPr>
          <p:cNvPr id="16" name="">
            <a:extLst xmlns:a="http://schemas.openxmlformats.org/drawingml/2006/main">
              <a:ext uri="{FF2B5EF4-FFF2-40B4-BE49-F238E27FC236}">
                <a16:creationId xmlns:a16="http://schemas.microsoft.com/office/drawing/2014/main" id="{7CAD7770-7A34-44DA-8D9E-A2B9649B67ED}"/>
              </a:ext>
            </a:extLst>
          </p:cNvPr>
          <p:cNvSpPr>
            <a:spLocks xmlns:a="http://schemas.openxmlformats.org/drawingml/2006/main" noGrp="1"/>
          </p:cNvSpPr>
          <p:nvPr/>
        </p:nvSpPr>
        <p:spPr>
          <a:xfrm xmlns:a="http://schemas.openxmlformats.org/drawingml/2006/main">
            <a:off x="8905875" y="2457450"/>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88818F"/>
                </a:solidFill>
                <a:latin typeface="Helvetica Neue"/>
                <a:ea typeface="Helvetica Neue"/>
                <a:cs typeface="Helvetica Neue"/>
              </a:defRPr>
            </a:pPr>
            <a:r>
              <a:rPr sz="1050" b="0">
                <a:solidFill>
                  <a:srgbClr val="88818F"/>
                </a:solidFill>
                <a:latin typeface="Helvetica Neue"/>
                <a:ea typeface="Helvetica Neue"/>
                <a:cs typeface="Helvetica Neue"/>
              </a:rPr>
              <a:t>+ 2.9% / order processing</a:t>
            </a:r>
          </a:p>
        </p:txBody>
      </p:sp>
      <p:graphicFrame>
        <p:nvGraphicFramePr>
          <p:cNvPr id="35" name=""/>
          <p:cNvGraphicFramePr/>
          <p:nvPr/>
        </p:nvGraphicFramePr>
        <p:xfrm>
          <a:off xmlns:a="http://schemas.openxmlformats.org/drawingml/2006/main" x="609600" y="2800350"/>
          <a:ext xmlns:a="http://schemas.openxmlformats.org/drawingml/2006/main" cx="10972800" cy="2667000"/>
        </p:xfrm>
        <a:graphic xmlns:a="http://schemas.openxmlformats.org/drawingml/2006/main">
          <a:graphicData uri="http://schemas.openxmlformats.org/drawingml/2006/table">
            <a:tbl>
              <a:tblPr/>
              <a:tblGrid>
                <a:gridCol w="2771775"/>
                <a:gridCol w="2714625"/>
                <a:gridCol w="2714625"/>
                <a:gridCol w="2771775"/>
              </a:tblGrid>
              <a:tr h="333375">
                <a:tc>
                  <a:txBody>
                    <a:bodyPr wrap="square" lIns="95250" tIns="28575" rIns="76200" bIns="28575">
                      <a:normAutofit/>
                    </a:bodyPr>
                    <a:lstStyle/>
                    <a:p>
                      <a:pPr algn="l"/>
                      <a:r>
                        <a:rPr sz="1275" b="1">
                          <a:solidFill>
                            <a:srgbClr val="F5F2F7"/>
                          </a:solidFill>
                          <a:latin typeface="Helvetica Neue"/>
                          <a:ea typeface="Helvetica Neue"/>
                          <a:cs typeface="Helvetica Neue"/>
                        </a:rPr>
                        <a:t>3 × $25 tickets · buyer fees</a:t>
                      </a:r>
                    </a:p>
                  </a:txBody>
                  <a:tcPr marL="95250" marR="76200" marT="19050" marB="19050" anchor="ctr">
                    <a:solidFill>
                      <a:srgbClr val="29242F"/>
                    </a:solidFill>
                  </a:tcPr>
                </a:tc>
                <a:tc>
                  <a:txBody>
                    <a:bodyPr wrap="square" lIns="95250" tIns="28575" rIns="76200" bIns="28575">
                      <a:normAutofit/>
                    </a:bodyPr>
                    <a:lstStyle/>
                    <a:p>
                      <a:pPr algn="l"/>
                      <a:r>
                        <a:rPr sz="1275" b="1">
                          <a:solidFill>
                            <a:srgbClr val="D2B16A"/>
                          </a:solidFill>
                          <a:latin typeface="Helvetica Neue"/>
                          <a:ea typeface="Helvetica Neue"/>
                          <a:cs typeface="Helvetica Neue"/>
                        </a:rPr>
                        <a:t>$8.40</a:t>
                      </a:r>
                    </a:p>
                  </a:txBody>
                  <a:tcPr marL="95250" marR="76200" marT="19050" marB="19050" anchor="ctr">
                    <a:solidFill>
                      <a:srgbClr val="29242F"/>
                    </a:solidFill>
                  </a:tcPr>
                </a:tc>
                <a:tc>
                  <a:txBody>
                    <a:bodyPr wrap="square" lIns="95250" tIns="28575" rIns="76200" bIns="28575">
                      <a:normAutofit/>
                    </a:bodyPr>
                    <a:lstStyle/>
                    <a:p>
                      <a:pPr algn="l"/>
                      <a:r>
                        <a:rPr sz="1275" b="1">
                          <a:solidFill>
                            <a:srgbClr val="F5F2F7"/>
                          </a:solidFill>
                          <a:latin typeface="Helvetica Neue"/>
                          <a:ea typeface="Helvetica Neue"/>
                          <a:cs typeface="Helvetica Neue"/>
                        </a:rPr>
                        <a:t>$10.47</a:t>
                      </a:r>
                    </a:p>
                  </a:txBody>
                  <a:tcPr marL="95250" marR="76200" marT="19050" marB="19050" anchor="ctr">
                    <a:solidFill>
                      <a:srgbClr val="29242F"/>
                    </a:solidFill>
                  </a:tcPr>
                </a:tc>
                <a:tc>
                  <a:txBody>
                    <a:bodyPr wrap="square" lIns="95250" tIns="28575" rIns="76200" bIns="28575">
                      <a:normAutofit/>
                    </a:bodyPr>
                    <a:lstStyle/>
                    <a:p>
                      <a:pPr algn="l"/>
                      <a:r>
                        <a:rPr sz="1125" b="1">
                          <a:solidFill>
                            <a:srgbClr val="F5F2F7"/>
                          </a:solidFill>
                          <a:latin typeface="Helvetica Neue"/>
                          <a:ea typeface="Helvetica Neue"/>
                          <a:cs typeface="Helvetica Neue"/>
                        </a:rPr>
                        <a:t>$8.16 + $2.41 = $10.57</a:t>
                      </a:r>
                    </a:p>
                  </a:txBody>
                  <a:tcPr marL="95250" marR="76200" marT="19050" marB="19050" anchor="ctr">
                    <a:solidFill>
                      <a:srgbClr val="29242F"/>
                    </a:solidFill>
                  </a:tcPr>
                </a:tc>
              </a:tr>
              <a:tr h="333375">
                <a:tc>
                  <a:txBody>
                    <a:bodyPr wrap="square" lIns="95250" tIns="28575" rIns="76200" bIns="28575">
                      <a:normAutofit/>
                    </a:bodyPr>
                    <a:lstStyle/>
                    <a:p>
                      <a:pPr algn="l"/>
                      <a:r>
                        <a:rPr sz="1275" b="1">
                          <a:solidFill>
                            <a:srgbClr val="F5F2F7"/>
                          </a:solidFill>
                          <a:latin typeface="Helvetica Neue"/>
                          <a:ea typeface="Helvetica Neue"/>
                          <a:cs typeface="Helvetica Neue"/>
                        </a:rPr>
                        <a:t>Purchaser checkout</a:t>
                      </a:r>
                    </a:p>
                  </a:txBody>
                  <a:tcPr marL="95250" marR="76200" marT="19050" marB="19050" anchor="ctr">
                    <a:solidFill>
                      <a:srgbClr val="101014"/>
                    </a:solidFill>
                  </a:tcPr>
                </a:tc>
                <a:tc>
                  <a:txBody>
                    <a:bodyPr wrap="square" lIns="95250" tIns="28575" rIns="76200" bIns="28575">
                      <a:normAutofit/>
                    </a:bodyPr>
                    <a:lstStyle/>
                    <a:p>
                      <a:pPr algn="l"/>
                      <a:r>
                        <a:rPr sz="1275" b="1">
                          <a:solidFill>
                            <a:srgbClr val="D2B16A"/>
                          </a:solidFill>
                          <a:latin typeface="Helvetica Neue"/>
                          <a:ea typeface="Helvetica Neue"/>
                          <a:cs typeface="Helvetica Neue"/>
                        </a:rPr>
                        <a:t>$83.40</a:t>
                      </a:r>
                    </a:p>
                  </a:txBody>
                  <a:tcPr marL="95250" marR="76200" marT="19050" marB="19050" anchor="ctr">
                    <a:solidFill>
                      <a:srgbClr val="101014"/>
                    </a:solidFill>
                  </a:tcPr>
                </a:tc>
                <a:tc>
                  <a:txBody>
                    <a:bodyPr wrap="square" lIns="95250" tIns="28575" rIns="76200" bIns="28575">
                      <a:normAutofit/>
                    </a:bodyPr>
                    <a:lstStyle/>
                    <a:p>
                      <a:pPr algn="l"/>
                      <a:r>
                        <a:rPr sz="1275" b="1">
                          <a:solidFill>
                            <a:srgbClr val="F5F2F7"/>
                          </a:solidFill>
                          <a:latin typeface="Helvetica Neue"/>
                          <a:ea typeface="Helvetica Neue"/>
                          <a:cs typeface="Helvetica Neue"/>
                        </a:rPr>
                        <a:t>$85.47</a:t>
                      </a:r>
                    </a:p>
                  </a:txBody>
                  <a:tcPr marL="95250" marR="76200" marT="19050" marB="19050" anchor="ctr">
                    <a:solidFill>
                      <a:srgbClr val="101014"/>
                    </a:solidFill>
                  </a:tcPr>
                </a:tc>
                <a:tc>
                  <a:txBody>
                    <a:bodyPr wrap="square" lIns="95250" tIns="28575" rIns="76200" bIns="28575">
                      <a:normAutofit/>
                    </a:bodyPr>
                    <a:lstStyle/>
                    <a:p>
                      <a:pPr algn="l"/>
                      <a:r>
                        <a:rPr sz="1275" b="1">
                          <a:solidFill>
                            <a:srgbClr val="F5F2F7"/>
                          </a:solidFill>
                          <a:latin typeface="Helvetica Neue"/>
                          <a:ea typeface="Helvetica Neue"/>
                          <a:cs typeface="Helvetica Neue"/>
                        </a:rPr>
                        <a:t>$85.57</a:t>
                      </a:r>
                    </a:p>
                  </a:txBody>
                  <a:tcPr marL="95250" marR="76200" marT="19050" marB="19050" anchor="ctr">
                    <a:solidFill>
                      <a:srgbClr val="101014"/>
                    </a:solidFill>
                  </a:tcPr>
                </a:tc>
              </a:tr>
              <a:tr h="333375">
                <a:tc>
                  <a:txBody>
                    <a:bodyPr wrap="square" lIns="95250" tIns="28575" rIns="76200" bIns="28575">
                      <a:normAutofit/>
                    </a:bodyPr>
                    <a:lstStyle/>
                    <a:p>
                      <a:pPr algn="l"/>
                      <a:r>
                        <a:rPr sz="1275" b="0">
                          <a:solidFill>
                            <a:srgbClr val="F5F2F7"/>
                          </a:solidFill>
                          <a:latin typeface="Helvetica Neue"/>
                          <a:ea typeface="Helvetica Neue"/>
                          <a:cs typeface="Helvetica Neue"/>
                        </a:rPr>
                        <a:t>Venue net¹</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D2B16A"/>
                          </a:solidFill>
                          <a:latin typeface="Helvetica Neue"/>
                          <a:ea typeface="Helvetica Neue"/>
                          <a:cs typeface="Helvetica Neue"/>
                        </a:rPr>
                        <a:t>$75.00</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$75.00</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$75.00</a:t>
                      </a:r>
                    </a:p>
                  </a:txBody>
                  <a:tcPr marL="95250" marR="76200" marT="19050" marB="19050" anchor="ctr">
                    <a:solidFill>
                      <a:srgbClr val="101014"/>
                    </a:solidFill>
                  </a:tcPr>
                </a:tc>
              </a:tr>
              <a:tr h="333375">
                <a:tc>
                  <a:txBody>
                    <a:bodyPr wrap="square" lIns="95250" tIns="28575" rIns="76200" bIns="28575">
                      <a:normAutofit/>
                    </a:bodyPr>
                    <a:lstStyle/>
                    <a:p>
                      <a:pPr algn="l"/>
                      <a:r>
                        <a:rPr sz="1275" b="0">
                          <a:solidFill>
                            <a:srgbClr val="F5F2F7"/>
                          </a:solidFill>
                          <a:latin typeface="Helvetica Neue"/>
                          <a:ea typeface="Helvetica Neue"/>
                          <a:cs typeface="Helvetica Neue"/>
                        </a:rPr>
                        <a:t>Nitewide contribution²</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D2B16A"/>
                          </a:solidFill>
                          <a:latin typeface="Helvetica Neue"/>
                          <a:ea typeface="Helvetica Neue"/>
                          <a:cs typeface="Helvetica Neue"/>
                        </a:rPr>
                        <a:t>$5.68 (Stripe $2.72)</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a:t>
                      </a:r>
                    </a:p>
                  </a:txBody>
                  <a:tcPr marL="95250" marR="76200" marT="19050" marB="19050" anchor="ctr">
                    <a:solidFill>
                      <a:srgbClr val="101014"/>
                    </a:solidFill>
                  </a:tcPr>
                </a:tc>
              </a:tr>
              <a:tr h="333375">
                <a:tc>
                  <a:txBody>
                    <a:bodyPr wrap="square" lIns="95250" tIns="28575" rIns="76200" bIns="28575">
                      <a:normAutofit/>
                    </a:bodyPr>
                    <a:lstStyle/>
                    <a:p>
                      <a:pPr algn="l"/>
                      <a:r>
                        <a:rPr sz="1275" b="1">
                          <a:solidFill>
                            <a:srgbClr val="F5F2F7"/>
                          </a:solidFill>
                          <a:latin typeface="Helvetica Neue"/>
                          <a:ea typeface="Helvetica Neue"/>
                          <a:cs typeface="Helvetica Neue"/>
                        </a:rPr>
                        <a:t>1 × $300 VIP · buyer fees</a:t>
                      </a:r>
                    </a:p>
                  </a:txBody>
                  <a:tcPr marL="95250" marR="76200" marT="19050" marB="19050" anchor="ctr">
                    <a:solidFill>
                      <a:srgbClr val="29242F"/>
                    </a:solidFill>
                  </a:tcPr>
                </a:tc>
                <a:tc>
                  <a:txBody>
                    <a:bodyPr wrap="square" lIns="95250" tIns="28575" rIns="76200" bIns="28575">
                      <a:normAutofit/>
                    </a:bodyPr>
                    <a:lstStyle/>
                    <a:p>
                      <a:pPr algn="l"/>
                      <a:r>
                        <a:rPr sz="1275" b="1">
                          <a:solidFill>
                            <a:srgbClr val="D2B16A"/>
                          </a:solidFill>
                          <a:latin typeface="Helvetica Neue"/>
                          <a:ea typeface="Helvetica Neue"/>
                          <a:cs typeface="Helvetica Neue"/>
                        </a:rPr>
                        <a:t>$21.52</a:t>
                      </a:r>
                    </a:p>
                  </a:txBody>
                  <a:tcPr marL="95250" marR="76200" marT="19050" marB="19050" anchor="ctr">
                    <a:solidFill>
                      <a:srgbClr val="29242F"/>
                    </a:solidFill>
                  </a:tcPr>
                </a:tc>
                <a:tc>
                  <a:txBody>
                    <a:bodyPr wrap="square" lIns="95250" tIns="28575" rIns="76200" bIns="28575">
                      <a:normAutofit/>
                    </a:bodyPr>
                    <a:lstStyle/>
                    <a:p>
                      <a:pPr algn="l"/>
                      <a:r>
                        <a:rPr sz="1275" b="1">
                          <a:solidFill>
                            <a:srgbClr val="F5F2F7"/>
                          </a:solidFill>
                          <a:latin typeface="Helvetica Neue"/>
                          <a:ea typeface="Helvetica Neue"/>
                          <a:cs typeface="Helvetica Neue"/>
                        </a:rPr>
                        <a:t>$30.99</a:t>
                      </a:r>
                    </a:p>
                  </a:txBody>
                  <a:tcPr marL="95250" marR="76200" marT="19050" marB="19050" anchor="ctr">
                    <a:solidFill>
                      <a:srgbClr val="29242F"/>
                    </a:solidFill>
                  </a:tcPr>
                </a:tc>
                <a:tc>
                  <a:txBody>
                    <a:bodyPr wrap="square" lIns="95250" tIns="28575" rIns="76200" bIns="28575">
                      <a:normAutofit/>
                    </a:bodyPr>
                    <a:lstStyle/>
                    <a:p>
                      <a:pPr algn="l"/>
                      <a:r>
                        <a:rPr sz="1125" b="1">
                          <a:solidFill>
                            <a:srgbClr val="F5F2F7"/>
                          </a:solidFill>
                          <a:latin typeface="Helvetica Neue"/>
                          <a:ea typeface="Helvetica Neue"/>
                          <a:cs typeface="Helvetica Neue"/>
                        </a:rPr>
                        <a:t>$12.89 + $9.07 = $21.96</a:t>
                      </a:r>
                    </a:p>
                  </a:txBody>
                  <a:tcPr marL="95250" marR="76200" marT="19050" marB="19050" anchor="ctr">
                    <a:solidFill>
                      <a:srgbClr val="29242F"/>
                    </a:solidFill>
                  </a:tcPr>
                </a:tc>
              </a:tr>
              <a:tr h="333375">
                <a:tc>
                  <a:txBody>
                    <a:bodyPr wrap="square" lIns="95250" tIns="28575" rIns="76200" bIns="28575">
                      <a:normAutofit/>
                    </a:bodyPr>
                    <a:lstStyle/>
                    <a:p>
                      <a:pPr algn="l"/>
                      <a:r>
                        <a:rPr sz="1275" b="1">
                          <a:solidFill>
                            <a:srgbClr val="F5F2F7"/>
                          </a:solidFill>
                          <a:latin typeface="Helvetica Neue"/>
                          <a:ea typeface="Helvetica Neue"/>
                          <a:cs typeface="Helvetica Neue"/>
                        </a:rPr>
                        <a:t>Purchaser checkout</a:t>
                      </a:r>
                    </a:p>
                  </a:txBody>
                  <a:tcPr marL="95250" marR="76200" marT="19050" marB="19050" anchor="ctr">
                    <a:solidFill>
                      <a:srgbClr val="101014"/>
                    </a:solidFill>
                  </a:tcPr>
                </a:tc>
                <a:tc>
                  <a:txBody>
                    <a:bodyPr wrap="square" lIns="95250" tIns="28575" rIns="76200" bIns="28575">
                      <a:normAutofit/>
                    </a:bodyPr>
                    <a:lstStyle/>
                    <a:p>
                      <a:pPr algn="l"/>
                      <a:r>
                        <a:rPr sz="1275" b="1">
                          <a:solidFill>
                            <a:srgbClr val="D2B16A"/>
                          </a:solidFill>
                          <a:latin typeface="Helvetica Neue"/>
                          <a:ea typeface="Helvetica Neue"/>
                          <a:cs typeface="Helvetica Neue"/>
                        </a:rPr>
                        <a:t>$321.52</a:t>
                      </a:r>
                    </a:p>
                  </a:txBody>
                  <a:tcPr marL="95250" marR="76200" marT="19050" marB="19050" anchor="ctr">
                    <a:solidFill>
                      <a:srgbClr val="101014"/>
                    </a:solidFill>
                  </a:tcPr>
                </a:tc>
                <a:tc>
                  <a:txBody>
                    <a:bodyPr wrap="square" lIns="95250" tIns="28575" rIns="76200" bIns="28575">
                      <a:normAutofit/>
                    </a:bodyPr>
                    <a:lstStyle/>
                    <a:p>
                      <a:pPr algn="l"/>
                      <a:r>
                        <a:rPr sz="1275" b="1">
                          <a:solidFill>
                            <a:srgbClr val="F5F2F7"/>
                          </a:solidFill>
                          <a:latin typeface="Helvetica Neue"/>
                          <a:ea typeface="Helvetica Neue"/>
                          <a:cs typeface="Helvetica Neue"/>
                        </a:rPr>
                        <a:t>$330.99</a:t>
                      </a:r>
                    </a:p>
                  </a:txBody>
                  <a:tcPr marL="95250" marR="76200" marT="19050" marB="19050" anchor="ctr">
                    <a:solidFill>
                      <a:srgbClr val="101014"/>
                    </a:solidFill>
                  </a:tcPr>
                </a:tc>
                <a:tc>
                  <a:txBody>
                    <a:bodyPr wrap="square" lIns="95250" tIns="28575" rIns="76200" bIns="28575">
                      <a:normAutofit/>
                    </a:bodyPr>
                    <a:lstStyle/>
                    <a:p>
                      <a:pPr algn="l"/>
                      <a:r>
                        <a:rPr sz="1275" b="1">
                          <a:solidFill>
                            <a:srgbClr val="F5F2F7"/>
                          </a:solidFill>
                          <a:latin typeface="Helvetica Neue"/>
                          <a:ea typeface="Helvetica Neue"/>
                          <a:cs typeface="Helvetica Neue"/>
                        </a:rPr>
                        <a:t>$321.96</a:t>
                      </a:r>
                    </a:p>
                  </a:txBody>
                  <a:tcPr marL="95250" marR="76200" marT="19050" marB="19050" anchor="ctr">
                    <a:solidFill>
                      <a:srgbClr val="101014"/>
                    </a:solidFill>
                  </a:tcPr>
                </a:tc>
              </a:tr>
              <a:tr h="333375">
                <a:tc>
                  <a:txBody>
                    <a:bodyPr wrap="square" lIns="95250" tIns="28575" rIns="76200" bIns="28575">
                      <a:normAutofit/>
                    </a:bodyPr>
                    <a:lstStyle/>
                    <a:p>
                      <a:pPr algn="l"/>
                      <a:r>
                        <a:rPr sz="1275" b="0">
                          <a:solidFill>
                            <a:srgbClr val="F5F2F7"/>
                          </a:solidFill>
                          <a:latin typeface="Helvetica Neue"/>
                          <a:ea typeface="Helvetica Neue"/>
                          <a:cs typeface="Helvetica Neue"/>
                        </a:rPr>
                        <a:t>Venue net¹</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D2B16A"/>
                          </a:solidFill>
                          <a:latin typeface="Helvetica Neue"/>
                          <a:ea typeface="Helvetica Neue"/>
                          <a:cs typeface="Helvetica Neue"/>
                        </a:rPr>
                        <a:t>$300.00</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$300.00</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$300.00</a:t>
                      </a:r>
                    </a:p>
                  </a:txBody>
                  <a:tcPr marL="95250" marR="76200" marT="19050" marB="19050" anchor="ctr">
                    <a:solidFill>
                      <a:srgbClr val="101014"/>
                    </a:solidFill>
                  </a:tcPr>
                </a:tc>
              </a:tr>
              <a:tr h="333375">
                <a:tc>
                  <a:txBody>
                    <a:bodyPr wrap="square" lIns="95250" tIns="28575" rIns="76200" bIns="28575">
                      <a:normAutofit/>
                    </a:bodyPr>
                    <a:lstStyle/>
                    <a:p>
                      <a:pPr algn="l"/>
                      <a:r>
                        <a:rPr sz="1275" b="0">
                          <a:solidFill>
                            <a:srgbClr val="F5F2F7"/>
                          </a:solidFill>
                          <a:latin typeface="Helvetica Neue"/>
                          <a:ea typeface="Helvetica Neue"/>
                          <a:cs typeface="Helvetica Neue"/>
                        </a:rPr>
                        <a:t>Nitewide contribution²</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D2B16A"/>
                          </a:solidFill>
                          <a:latin typeface="Helvetica Neue"/>
                          <a:ea typeface="Helvetica Neue"/>
                          <a:cs typeface="Helvetica Neue"/>
                        </a:rPr>
                        <a:t>$11.90 (Stripe $9.62)</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a:t>
                      </a:r>
                    </a:p>
                  </a:txBody>
                  <a:tcPr marL="95250" marR="76200" marT="19050" marB="19050" anchor="ctr">
                    <a:solidFill>
                      <a:srgbClr val="101014"/>
                    </a:solidFill>
                  </a:tcPr>
                </a:tc>
                <a:tc>
                  <a:txBody>
                    <a:bodyPr wrap="square" lIns="95250" tIns="28575" rIns="76200" bIns="28575">
                      <a:normAutofit/>
                    </a:bodyPr>
                    <a:lstStyle/>
                    <a:p>
                      <a:pPr algn="l"/>
                      <a:r>
                        <a:rPr sz="1275" b="0">
                          <a:solidFill>
                            <a:srgbClr val="F5F2F7"/>
                          </a:solidFill>
                          <a:latin typeface="Helvetica Neue"/>
                          <a:ea typeface="Helvetica Neue"/>
                          <a:cs typeface="Helvetica Neue"/>
                        </a:rPr>
                        <a:t>—</a:t>
                      </a:r>
                    </a:p>
                  </a:txBody>
                  <a:tcPr marL="95250" marR="76200" marT="19050" marB="19050" anchor="ctr">
                    <a:solidFill>
                      <a:srgbClr val="101014"/>
                    </a:solidFill>
                  </a:tcPr>
                </a:tc>
              </a:tr>
            </a:tbl>
          </a:graphicData>
        </a:graphic>
      </p:graphicFrame>
      <p:sp>
        <p:nvSpPr>
          <p:cNvPr id="18" name="">
            <a:extLst xmlns:a="http://schemas.openxmlformats.org/drawingml/2006/main">
              <a:ext uri="{FF2B5EF4-FFF2-40B4-BE49-F238E27FC236}">
                <a16:creationId xmlns:a16="http://schemas.microsoft.com/office/drawing/2014/main" id="{896BC9FB-16E6-41A0-BB9C-99521F949013}"/>
              </a:ext>
            </a:extLst>
          </p:cNvPr>
          <p:cNvSpPr>
            <a:spLocks xmlns:a="http://schemas.openxmlformats.org/drawingml/2006/main" noGrp="1"/>
          </p:cNvSpPr>
          <p:nvPr/>
        </p:nvSpPr>
        <p:spPr>
          <a:xfrm xmlns:a="http://schemas.openxmlformats.org/drawingml/2006/main">
            <a:off x="704850" y="5581650"/>
            <a:ext cx="10782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a:solidFill>
                  <a:srgbClr val="B6AFBD"/>
                </a:solidFill>
                <a:latin typeface="Helvetica Neue"/>
                <a:ea typeface="Helvetica Neue"/>
                <a:cs typeface="Helvetica Neue"/>
              </a:defRPr>
            </a:pPr>
            <a:r>
              <a:rPr sz="1013" b="0">
                <a:solidFill>
                  <a:srgbClr val="B6AFBD"/>
                </a:solidFill>
                <a:latin typeface="Helvetica Neue"/>
                <a:ea typeface="Helvetica Neue"/>
                <a:cs typeface="Helvetica Neue"/>
              </a:rPr>
              <a:t>Pre-tax USD estimates. ¹Venue net excludes commissions, refunds and other obligations. Fees passed to buyers.</a:t>
            </a:r>
          </a:p>
          <a:p xmlns:a="http://schemas.openxmlformats.org/drawingml/2006/main">
            <a:pPr algn="l">
              <a:defRPr sz="1013" b="0">
                <a:solidFill>
                  <a:srgbClr val="B6AFBD"/>
                </a:solidFill>
                <a:latin typeface="Helvetica Neue"/>
                <a:ea typeface="Helvetica Neue"/>
                <a:cs typeface="Helvetica Neue"/>
              </a:defRPr>
            </a:pPr>
            <a:r>
              <a:rPr sz="1013" b="0">
                <a:solidFill>
                  <a:srgbClr val="B6AFBD"/>
                </a:solidFill>
                <a:latin typeface="Helvetica Neue"/>
                <a:ea typeface="Helvetica Neue"/>
                <a:cs typeface="Helvetica Neue"/>
              </a:rPr>
              <a:t>²After modeled Stripe (2.9% + $0.30 on full charge), before other costs. Not net profit. Eventbrite = service + processing.</a:t>
            </a:r>
          </a:p>
          <a:p xmlns:a="http://schemas.openxmlformats.org/drawingml/2006/main">
            <a:pPr algn="l">
              <a:defRPr sz="1013" b="0">
                <a:solidFill>
                  <a:srgbClr val="B6AFBD"/>
                </a:solidFill>
                <a:latin typeface="Helvetica Neue"/>
                <a:ea typeface="Helvetica Neue"/>
                <a:cs typeface="Helvetica Neue"/>
              </a:defRPr>
            </a:pPr>
            <a:r>
              <a:rPr sz="1013" b="0">
                <a:solidFill>
                  <a:srgbClr val="B6AFBD"/>
                </a:solidFill>
                <a:latin typeface="Helvetica Neue"/>
                <a:ea typeface="Helvetica Neue"/>
                <a:cs typeface="Helvetica Neue"/>
              </a:rPr>
              <a:t>The $1 floor can exceed standard fees or competitor prices. No rejection solely for margin. Actual costs and checkout may vary.</a:t>
            </a:r>
          </a:p>
        </p:txBody>
      </p:sp>
    </p:spTree>
    <p:extLst>
      <p:ext uri="{BB962C8B-B14F-4D97-AF65-F5344CB8AC3E}">
        <p14:creationId xmlns:p14="http://schemas.microsoft.com/office/powerpoint/2010/main" val="1104999970"/>
      </p:ext>
    </p:extLst>
  </p:cSld>
</p:sld>
</file>

<file path=ppt/slides/slide8.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DA51F96-7254-4668-9536-781FF79AD8D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932374-C032-4E60-97BA-228A4EFBFEC6}"/>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VOLUME BENCHMARKS</a:t>
            </a:r>
          </a:p>
        </p:txBody>
      </p:sp>
      <p:sp>
        <p:nvSpPr>
          <p:cNvPr id="3" name="">
            <a:extLst xmlns:a="http://schemas.openxmlformats.org/drawingml/2006/main">
              <a:ext uri="{FF2B5EF4-FFF2-40B4-BE49-F238E27FC236}">
                <a16:creationId xmlns:a16="http://schemas.microsoft.com/office/drawing/2014/main" id="{02AFE5C7-FE41-414C-A7AB-96E5DDB32A52}"/>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Scale benchmarks from established platforms</a:t>
            </a:r>
          </a:p>
        </p:txBody>
      </p:sp>
      <p:sp>
        <p:nvSpPr>
          <p:cNvPr id="4" name="">
            <a:extLst xmlns:a="http://schemas.openxmlformats.org/drawingml/2006/main">
              <a:ext uri="{FF2B5EF4-FFF2-40B4-BE49-F238E27FC236}">
                <a16:creationId xmlns:a16="http://schemas.microsoft.com/office/drawing/2014/main" id="{B0860769-7A3A-431E-8926-EE0ACC69CDCE}"/>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05922A-7549-4A94-B1B0-C180F8CCA171}"/>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E38EF3A8-D971-4B49-B47F-6A7AC9BBA566}"/>
              </a:ext>
            </a:extLst>
          </p:cNvPr>
          <p:cNvSpPr>
            <a:spLocks xmlns:a="http://schemas.openxmlformats.org/drawingml/2006/main" noGrp="1"/>
          </p:cNvSpPr>
          <p:nvPr/>
        </p:nvSpPr>
        <p:spPr>
          <a:xfrm xmlns:a="http://schemas.openxmlformats.org/drawingml/2006/main">
            <a:off x="609600" y="1362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If Nitewide captured 1 in 10 or 1 in 4 of these reported sales volumes, the GMV equivalents would be as below. These are scale comparisons, not forecasts, current traction or a defined addressable market.</a:t>
            </a:r>
          </a:p>
        </p:txBody>
      </p:sp>
      <p:sp>
        <p:nvSpPr>
          <p:cNvPr id="7" name="">
            <a:extLst xmlns:a="http://schemas.openxmlformats.org/drawingml/2006/main">
              <a:ext uri="{FF2B5EF4-FFF2-40B4-BE49-F238E27FC236}">
                <a16:creationId xmlns:a16="http://schemas.microsoft.com/office/drawing/2014/main" id="{06002B3D-3DB5-45D1-8B07-9358940AA5E9}"/>
              </a:ext>
            </a:extLst>
          </p:cNvPr>
          <p:cNvSpPr>
            <a:spLocks xmlns:a="http://schemas.openxmlformats.org/drawingml/2006/main" noGrp="1"/>
          </p:cNvSpPr>
          <p:nvPr/>
        </p:nvSpPr>
        <p:spPr>
          <a:xfrm xmlns:a="http://schemas.openxmlformats.org/drawingml/2006/main">
            <a:off x="704850" y="20574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POSH / REPORTED MARCH 2026</a:t>
            </a:r>
          </a:p>
        </p:txBody>
      </p:sp>
      <p:sp>
        <p:nvSpPr>
          <p:cNvPr id="8" name="">
            <a:extLst xmlns:a="http://schemas.openxmlformats.org/drawingml/2006/main">
              <a:ext uri="{FF2B5EF4-FFF2-40B4-BE49-F238E27FC236}">
                <a16:creationId xmlns:a16="http://schemas.microsoft.com/office/drawing/2014/main" id="{17BAA592-E034-47DF-A6AA-E3CD6A8DD38C}"/>
              </a:ext>
            </a:extLst>
          </p:cNvPr>
          <p:cNvSpPr>
            <a:spLocks xmlns:a="http://schemas.openxmlformats.org/drawingml/2006/main" noGrp="1"/>
          </p:cNvSpPr>
          <p:nvPr/>
        </p:nvSpPr>
        <p:spPr>
          <a:xfrm xmlns:a="http://schemas.openxmlformats.org/drawingml/2006/main">
            <a:off x="6419850" y="20574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EVENTBRITE / FY2025</a:t>
            </a:r>
          </a:p>
        </p:txBody>
      </p:sp>
      <p:sp>
        <p:nvSpPr>
          <p:cNvPr id="9" name="">
            <a:extLst xmlns:a="http://schemas.openxmlformats.org/drawingml/2006/main">
              <a:ext uri="{FF2B5EF4-FFF2-40B4-BE49-F238E27FC236}">
                <a16:creationId xmlns:a16="http://schemas.microsoft.com/office/drawing/2014/main" id="{48117D58-B033-4621-A73F-45D4A53A79EA}"/>
              </a:ext>
            </a:extLst>
          </p:cNvPr>
          <p:cNvSpPr>
            <a:spLocks xmlns:a="http://schemas.openxmlformats.org/drawingml/2006/main" noGrp="1"/>
          </p:cNvSpPr>
          <p:nvPr/>
        </p:nvSpPr>
        <p:spPr>
          <a:xfrm xmlns:a="http://schemas.openxmlformats.org/drawingml/2006/main">
            <a:off x="5905500" y="2038350"/>
            <a:ext cx="9525" cy="33337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6210DBC-D689-4EF6-8720-2CFC3C333011}"/>
              </a:ext>
            </a:extLst>
          </p:cNvPr>
          <p:cNvSpPr>
            <a:spLocks xmlns:a="http://schemas.openxmlformats.org/drawingml/2006/main" noGrp="1"/>
          </p:cNvSpPr>
          <p:nvPr/>
        </p:nvSpPr>
        <p:spPr>
          <a:xfrm xmlns:a="http://schemas.openxmlformats.org/drawingml/2006/main">
            <a:off x="704850" y="24574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$350M</a:t>
            </a:r>
          </a:p>
        </p:txBody>
      </p:sp>
      <p:sp>
        <p:nvSpPr>
          <p:cNvPr id="11" name="">
            <a:extLst xmlns:a="http://schemas.openxmlformats.org/drawingml/2006/main">
              <a:ext uri="{FF2B5EF4-FFF2-40B4-BE49-F238E27FC236}">
                <a16:creationId xmlns:a16="http://schemas.microsoft.com/office/drawing/2014/main" id="{C7D37C0D-F6BE-4A9A-8679-BCEB72044EE2}"/>
              </a:ext>
            </a:extLst>
          </p:cNvPr>
          <p:cNvSpPr>
            <a:spLocks xmlns:a="http://schemas.openxmlformats.org/drawingml/2006/main" noGrp="1"/>
          </p:cNvSpPr>
          <p:nvPr/>
        </p:nvSpPr>
        <p:spPr>
          <a:xfrm xmlns:a="http://schemas.openxmlformats.org/drawingml/2006/main">
            <a:off x="723900" y="303847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Reported lifetime GMV</a:t>
            </a:r>
          </a:p>
        </p:txBody>
      </p:sp>
      <p:sp>
        <p:nvSpPr>
          <p:cNvPr id="12" name="">
            <a:extLst xmlns:a="http://schemas.openxmlformats.org/drawingml/2006/main">
              <a:ext uri="{FF2B5EF4-FFF2-40B4-BE49-F238E27FC236}">
                <a16:creationId xmlns:a16="http://schemas.microsoft.com/office/drawing/2014/main" id="{D85C6C2F-58A8-46F1-82AB-3118149B7304}"/>
              </a:ext>
            </a:extLst>
          </p:cNvPr>
          <p:cNvSpPr>
            <a:spLocks xmlns:a="http://schemas.openxmlformats.org/drawingml/2006/main" noGrp="1"/>
          </p:cNvSpPr>
          <p:nvPr/>
        </p:nvSpPr>
        <p:spPr>
          <a:xfrm xmlns:a="http://schemas.openxmlformats.org/drawingml/2006/main">
            <a:off x="723900" y="34194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25M lifetime tickets</a:t>
            </a:r>
          </a:p>
        </p:txBody>
      </p:sp>
      <p:sp>
        <p:nvSpPr>
          <p:cNvPr id="13" name="">
            <a:extLst xmlns:a="http://schemas.openxmlformats.org/drawingml/2006/main">
              <a:ext uri="{FF2B5EF4-FFF2-40B4-BE49-F238E27FC236}">
                <a16:creationId xmlns:a16="http://schemas.microsoft.com/office/drawing/2014/main" id="{1C2A6E7E-2DC3-4928-9EDA-8F2A8C23145A}"/>
              </a:ext>
            </a:extLst>
          </p:cNvPr>
          <p:cNvSpPr>
            <a:spLocks xmlns:a="http://schemas.openxmlformats.org/drawingml/2006/main" noGrp="1"/>
          </p:cNvSpPr>
          <p:nvPr/>
        </p:nvSpPr>
        <p:spPr>
          <a:xfrm xmlns:a="http://schemas.openxmlformats.org/drawingml/2006/main">
            <a:off x="704850" y="3886200"/>
            <a:ext cx="466725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47AECC3-43E1-4B59-A68E-C85518220290}"/>
              </a:ext>
            </a:extLst>
          </p:cNvPr>
          <p:cNvSpPr>
            <a:spLocks xmlns:a="http://schemas.openxmlformats.org/drawingml/2006/main" noGrp="1"/>
          </p:cNvSpPr>
          <p:nvPr/>
        </p:nvSpPr>
        <p:spPr>
          <a:xfrm xmlns:a="http://schemas.openxmlformats.org/drawingml/2006/main">
            <a:off x="723900" y="40767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88818F"/>
                </a:solidFill>
                <a:latin typeface="Helvetica Neue"/>
                <a:ea typeface="Helvetica Neue"/>
                <a:cs typeface="Helvetica Neue"/>
              </a:defRPr>
            </a:pPr>
            <a:r>
              <a:rPr sz="1275" b="1">
                <a:solidFill>
                  <a:srgbClr val="88818F"/>
                </a:solidFill>
                <a:latin typeface="Helvetica Neue"/>
                <a:ea typeface="Helvetica Neue"/>
                <a:cs typeface="Helvetica Neue"/>
              </a:rPr>
              <a:t>1 in 10 captured</a:t>
            </a:r>
          </a:p>
        </p:txBody>
      </p:sp>
      <p:sp>
        <p:nvSpPr>
          <p:cNvPr id="15" name="">
            <a:extLst xmlns:a="http://schemas.openxmlformats.org/drawingml/2006/main">
              <a:ext uri="{FF2B5EF4-FFF2-40B4-BE49-F238E27FC236}">
                <a16:creationId xmlns:a16="http://schemas.microsoft.com/office/drawing/2014/main" id="{C95A214A-8C7D-4BAB-A774-04BC8CD74460}"/>
              </a:ext>
            </a:extLst>
          </p:cNvPr>
          <p:cNvSpPr>
            <a:spLocks xmlns:a="http://schemas.openxmlformats.org/drawingml/2006/main" noGrp="1"/>
          </p:cNvSpPr>
          <p:nvPr/>
        </p:nvSpPr>
        <p:spPr>
          <a:xfrm xmlns:a="http://schemas.openxmlformats.org/drawingml/2006/main">
            <a:off x="723900" y="43815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5F2F7"/>
                </a:solidFill>
                <a:latin typeface="Helvetica Neue"/>
                <a:ea typeface="Helvetica Neue"/>
                <a:cs typeface="Helvetica Neue"/>
              </a:defRPr>
            </a:pPr>
            <a:r>
              <a:rPr sz="1575" b="1">
                <a:solidFill>
                  <a:srgbClr val="F5F2F7"/>
                </a:solidFill>
                <a:latin typeface="Helvetica Neue"/>
                <a:ea typeface="Helvetica Neue"/>
                <a:cs typeface="Helvetica Neue"/>
              </a:rPr>
              <a:t>$35M GMV</a:t>
            </a:r>
          </a:p>
          <a:p xmlns:a="http://schemas.openxmlformats.org/drawingml/2006/main">
            <a:pPr algn="l">
              <a:defRPr sz="1575" b="1">
                <a:solidFill>
                  <a:srgbClr val="F5F2F7"/>
                </a:solidFill>
                <a:latin typeface="Helvetica Neue"/>
                <a:ea typeface="Helvetica Neue"/>
                <a:cs typeface="Helvetica Neue"/>
              </a:defRPr>
            </a:pPr>
            <a:r>
              <a:rPr sz="1575" b="1">
                <a:solidFill>
                  <a:srgbClr val="F5F2F7"/>
                </a:solidFill>
                <a:latin typeface="Helvetica Neue"/>
                <a:ea typeface="Helvetica Neue"/>
                <a:cs typeface="Helvetica Neue"/>
              </a:rPr>
              <a:t>2.5M ticket equivalents</a:t>
            </a:r>
          </a:p>
        </p:txBody>
      </p:sp>
      <p:sp>
        <p:nvSpPr>
          <p:cNvPr id="16" name="">
            <a:extLst xmlns:a="http://schemas.openxmlformats.org/drawingml/2006/main">
              <a:ext uri="{FF2B5EF4-FFF2-40B4-BE49-F238E27FC236}">
                <a16:creationId xmlns:a16="http://schemas.microsoft.com/office/drawing/2014/main" id="{27A2F19D-ECA0-4C4A-BE8D-6C000B35A759}"/>
              </a:ext>
            </a:extLst>
          </p:cNvPr>
          <p:cNvSpPr>
            <a:spLocks xmlns:a="http://schemas.openxmlformats.org/drawingml/2006/main" noGrp="1"/>
          </p:cNvSpPr>
          <p:nvPr/>
        </p:nvSpPr>
        <p:spPr>
          <a:xfrm xmlns:a="http://schemas.openxmlformats.org/drawingml/2006/main">
            <a:off x="723900" y="50292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88818F"/>
                </a:solidFill>
                <a:latin typeface="Helvetica Neue"/>
                <a:ea typeface="Helvetica Neue"/>
                <a:cs typeface="Helvetica Neue"/>
              </a:defRPr>
            </a:pPr>
            <a:r>
              <a:rPr sz="1275" b="1">
                <a:solidFill>
                  <a:srgbClr val="88818F"/>
                </a:solidFill>
                <a:latin typeface="Helvetica Neue"/>
                <a:ea typeface="Helvetica Neue"/>
                <a:cs typeface="Helvetica Neue"/>
              </a:rPr>
              <a:t>1 in 4 captured</a:t>
            </a:r>
          </a:p>
        </p:txBody>
      </p:sp>
      <p:sp>
        <p:nvSpPr>
          <p:cNvPr id="17" name="">
            <a:extLst xmlns:a="http://schemas.openxmlformats.org/drawingml/2006/main">
              <a:ext uri="{FF2B5EF4-FFF2-40B4-BE49-F238E27FC236}">
                <a16:creationId xmlns:a16="http://schemas.microsoft.com/office/drawing/2014/main" id="{A47B282D-4AC2-4393-AAFE-5E61FDDEB5B0}"/>
              </a:ext>
            </a:extLst>
          </p:cNvPr>
          <p:cNvSpPr>
            <a:spLocks xmlns:a="http://schemas.openxmlformats.org/drawingml/2006/main" noGrp="1"/>
          </p:cNvSpPr>
          <p:nvPr/>
        </p:nvSpPr>
        <p:spPr>
          <a:xfrm xmlns:a="http://schemas.openxmlformats.org/drawingml/2006/main">
            <a:off x="723900" y="53340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5F2F7"/>
                </a:solidFill>
                <a:latin typeface="Helvetica Neue"/>
                <a:ea typeface="Helvetica Neue"/>
                <a:cs typeface="Helvetica Neue"/>
              </a:defRPr>
            </a:pPr>
            <a:r>
              <a:rPr sz="1500" b="1">
                <a:solidFill>
                  <a:srgbClr val="F5F2F7"/>
                </a:solidFill>
                <a:latin typeface="Helvetica Neue"/>
                <a:ea typeface="Helvetica Neue"/>
                <a:cs typeface="Helvetica Neue"/>
              </a:rPr>
              <a:t>$87.5M GMV</a:t>
            </a:r>
          </a:p>
          <a:p xmlns:a="http://schemas.openxmlformats.org/drawingml/2006/main">
            <a:pPr algn="l">
              <a:defRPr sz="1500" b="1">
                <a:solidFill>
                  <a:srgbClr val="F5F2F7"/>
                </a:solidFill>
                <a:latin typeface="Helvetica Neue"/>
                <a:ea typeface="Helvetica Neue"/>
                <a:cs typeface="Helvetica Neue"/>
              </a:defRPr>
            </a:pPr>
            <a:r>
              <a:rPr sz="1500" b="1">
                <a:solidFill>
                  <a:srgbClr val="F5F2F7"/>
                </a:solidFill>
                <a:latin typeface="Helvetica Neue"/>
                <a:ea typeface="Helvetica Neue"/>
                <a:cs typeface="Helvetica Neue"/>
              </a:rPr>
              <a:t>6.25M ticket equivalents</a:t>
            </a:r>
          </a:p>
        </p:txBody>
      </p:sp>
      <p:sp>
        <p:nvSpPr>
          <p:cNvPr id="18" name="">
            <a:extLst xmlns:a="http://schemas.openxmlformats.org/drawingml/2006/main">
              <a:ext uri="{FF2B5EF4-FFF2-40B4-BE49-F238E27FC236}">
                <a16:creationId xmlns:a16="http://schemas.microsoft.com/office/drawing/2014/main" id="{A8354F54-9E4A-46B6-B73E-14CF943E75D5}"/>
              </a:ext>
            </a:extLst>
          </p:cNvPr>
          <p:cNvSpPr>
            <a:spLocks xmlns:a="http://schemas.openxmlformats.org/drawingml/2006/main" noGrp="1"/>
          </p:cNvSpPr>
          <p:nvPr/>
        </p:nvSpPr>
        <p:spPr>
          <a:xfrm xmlns:a="http://schemas.openxmlformats.org/drawingml/2006/main">
            <a:off x="6419850" y="24574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&gt;$3.0B</a:t>
            </a:r>
          </a:p>
        </p:txBody>
      </p:sp>
      <p:sp>
        <p:nvSpPr>
          <p:cNvPr id="19" name="">
            <a:extLst xmlns:a="http://schemas.openxmlformats.org/drawingml/2006/main">
              <a:ext uri="{FF2B5EF4-FFF2-40B4-BE49-F238E27FC236}">
                <a16:creationId xmlns:a16="http://schemas.microsoft.com/office/drawing/2014/main" id="{EBB49E3A-78A0-4428-A398-87B75CBF732E}"/>
              </a:ext>
            </a:extLst>
          </p:cNvPr>
          <p:cNvSpPr>
            <a:spLocks xmlns:a="http://schemas.openxmlformats.org/drawingml/2006/main" noGrp="1"/>
          </p:cNvSpPr>
          <p:nvPr/>
        </p:nvSpPr>
        <p:spPr>
          <a:xfrm xmlns:a="http://schemas.openxmlformats.org/drawingml/2006/main">
            <a:off x="6438900" y="30384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gross ticket sales in 2025</a:t>
            </a:r>
          </a:p>
        </p:txBody>
      </p:sp>
      <p:sp>
        <p:nvSpPr>
          <p:cNvPr id="20" name="">
            <a:extLst xmlns:a="http://schemas.openxmlformats.org/drawingml/2006/main">
              <a:ext uri="{FF2B5EF4-FFF2-40B4-BE49-F238E27FC236}">
                <a16:creationId xmlns:a16="http://schemas.microsoft.com/office/drawing/2014/main" id="{552DC2D8-24F5-43E2-9400-9AD86ADD46C9}"/>
              </a:ext>
            </a:extLst>
          </p:cNvPr>
          <p:cNvSpPr>
            <a:spLocks xmlns:a="http://schemas.openxmlformats.org/drawingml/2006/main" noGrp="1"/>
          </p:cNvSpPr>
          <p:nvPr/>
        </p:nvSpPr>
        <p:spPr>
          <a:xfrm xmlns:a="http://schemas.openxmlformats.org/drawingml/2006/main">
            <a:off x="6438900" y="3419475"/>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78.9M paid tickets in 2025</a:t>
            </a:r>
          </a:p>
        </p:txBody>
      </p:sp>
      <p:sp>
        <p:nvSpPr>
          <p:cNvPr id="21" name="">
            <a:extLst xmlns:a="http://schemas.openxmlformats.org/drawingml/2006/main">
              <a:ext uri="{FF2B5EF4-FFF2-40B4-BE49-F238E27FC236}">
                <a16:creationId xmlns:a16="http://schemas.microsoft.com/office/drawing/2014/main" id="{CEB1A0FC-6A40-47E8-8211-2D914183C31B}"/>
              </a:ext>
            </a:extLst>
          </p:cNvPr>
          <p:cNvSpPr>
            <a:spLocks xmlns:a="http://schemas.openxmlformats.org/drawingml/2006/main" noGrp="1"/>
          </p:cNvSpPr>
          <p:nvPr/>
        </p:nvSpPr>
        <p:spPr>
          <a:xfrm xmlns:a="http://schemas.openxmlformats.org/drawingml/2006/main">
            <a:off x="6419850" y="3886200"/>
            <a:ext cx="48006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0307B8C-856A-4250-842E-F43C3FAEE84A}"/>
              </a:ext>
            </a:extLst>
          </p:cNvPr>
          <p:cNvSpPr>
            <a:spLocks xmlns:a="http://schemas.openxmlformats.org/drawingml/2006/main" noGrp="1"/>
          </p:cNvSpPr>
          <p:nvPr/>
        </p:nvSpPr>
        <p:spPr>
          <a:xfrm xmlns:a="http://schemas.openxmlformats.org/drawingml/2006/main">
            <a:off x="6438900" y="40767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88818F"/>
                </a:solidFill>
                <a:latin typeface="Helvetica Neue"/>
                <a:ea typeface="Helvetica Neue"/>
                <a:cs typeface="Helvetica Neue"/>
              </a:defRPr>
            </a:pPr>
            <a:r>
              <a:rPr sz="1275" b="1">
                <a:solidFill>
                  <a:srgbClr val="88818F"/>
                </a:solidFill>
                <a:latin typeface="Helvetica Neue"/>
                <a:ea typeface="Helvetica Neue"/>
                <a:cs typeface="Helvetica Neue"/>
              </a:rPr>
              <a:t>1 in 10 captured</a:t>
            </a:r>
          </a:p>
        </p:txBody>
      </p:sp>
      <p:sp>
        <p:nvSpPr>
          <p:cNvPr id="23" name="">
            <a:extLst xmlns:a="http://schemas.openxmlformats.org/drawingml/2006/main">
              <a:ext uri="{FF2B5EF4-FFF2-40B4-BE49-F238E27FC236}">
                <a16:creationId xmlns:a16="http://schemas.microsoft.com/office/drawing/2014/main" id="{5F04E146-AC69-4873-B1A1-41185DD5387F}"/>
              </a:ext>
            </a:extLst>
          </p:cNvPr>
          <p:cNvSpPr>
            <a:spLocks xmlns:a="http://schemas.openxmlformats.org/drawingml/2006/main" noGrp="1"/>
          </p:cNvSpPr>
          <p:nvPr/>
        </p:nvSpPr>
        <p:spPr>
          <a:xfrm xmlns:a="http://schemas.openxmlformats.org/drawingml/2006/main">
            <a:off x="6438900" y="438150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5F2F7"/>
                </a:solidFill>
                <a:latin typeface="Helvetica Neue"/>
                <a:ea typeface="Helvetica Neue"/>
                <a:cs typeface="Helvetica Neue"/>
              </a:defRPr>
            </a:pPr>
            <a:r>
              <a:rPr sz="1575" b="1">
                <a:solidFill>
                  <a:srgbClr val="F5F2F7"/>
                </a:solidFill>
                <a:latin typeface="Helvetica Neue"/>
                <a:ea typeface="Helvetica Neue"/>
                <a:cs typeface="Helvetica Neue"/>
              </a:rPr>
              <a:t>&gt;$300M annual GMV</a:t>
            </a:r>
          </a:p>
          <a:p xmlns:a="http://schemas.openxmlformats.org/drawingml/2006/main">
            <a:pPr algn="l">
              <a:defRPr sz="1575" b="1">
                <a:solidFill>
                  <a:srgbClr val="F5F2F7"/>
                </a:solidFill>
                <a:latin typeface="Helvetica Neue"/>
                <a:ea typeface="Helvetica Neue"/>
                <a:cs typeface="Helvetica Neue"/>
              </a:defRPr>
            </a:pPr>
            <a:r>
              <a:rPr sz="1575" b="1">
                <a:solidFill>
                  <a:srgbClr val="F5F2F7"/>
                </a:solidFill>
                <a:latin typeface="Helvetica Neue"/>
                <a:ea typeface="Helvetica Neue"/>
                <a:cs typeface="Helvetica Neue"/>
              </a:rPr>
              <a:t>7.89M paid-ticket equivalents</a:t>
            </a:r>
          </a:p>
        </p:txBody>
      </p:sp>
      <p:sp>
        <p:nvSpPr>
          <p:cNvPr id="24" name="">
            <a:extLst xmlns:a="http://schemas.openxmlformats.org/drawingml/2006/main">
              <a:ext uri="{FF2B5EF4-FFF2-40B4-BE49-F238E27FC236}">
                <a16:creationId xmlns:a16="http://schemas.microsoft.com/office/drawing/2014/main" id="{7510ECE3-839C-4561-93C4-CE54F37D1077}"/>
              </a:ext>
            </a:extLst>
          </p:cNvPr>
          <p:cNvSpPr>
            <a:spLocks xmlns:a="http://schemas.openxmlformats.org/drawingml/2006/main" noGrp="1"/>
          </p:cNvSpPr>
          <p:nvPr/>
        </p:nvSpPr>
        <p:spPr>
          <a:xfrm xmlns:a="http://schemas.openxmlformats.org/drawingml/2006/main">
            <a:off x="6438900" y="50292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88818F"/>
                </a:solidFill>
                <a:latin typeface="Helvetica Neue"/>
                <a:ea typeface="Helvetica Neue"/>
                <a:cs typeface="Helvetica Neue"/>
              </a:defRPr>
            </a:pPr>
            <a:r>
              <a:rPr sz="1275" b="1">
                <a:solidFill>
                  <a:srgbClr val="88818F"/>
                </a:solidFill>
                <a:latin typeface="Helvetica Neue"/>
                <a:ea typeface="Helvetica Neue"/>
                <a:cs typeface="Helvetica Neue"/>
              </a:rPr>
              <a:t>1 in 4 captured</a:t>
            </a:r>
          </a:p>
        </p:txBody>
      </p:sp>
      <p:sp>
        <p:nvSpPr>
          <p:cNvPr id="25" name="">
            <a:extLst xmlns:a="http://schemas.openxmlformats.org/drawingml/2006/main">
              <a:ext uri="{FF2B5EF4-FFF2-40B4-BE49-F238E27FC236}">
                <a16:creationId xmlns:a16="http://schemas.microsoft.com/office/drawing/2014/main" id="{E18898A5-9858-4E19-9B00-5D61BAFBE59D}"/>
              </a:ext>
            </a:extLst>
          </p:cNvPr>
          <p:cNvSpPr>
            <a:spLocks xmlns:a="http://schemas.openxmlformats.org/drawingml/2006/main" noGrp="1"/>
          </p:cNvSpPr>
          <p:nvPr/>
        </p:nvSpPr>
        <p:spPr>
          <a:xfrm xmlns:a="http://schemas.openxmlformats.org/drawingml/2006/main">
            <a:off x="6438900" y="533400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5F2F7"/>
                </a:solidFill>
                <a:latin typeface="Helvetica Neue"/>
                <a:ea typeface="Helvetica Neue"/>
                <a:cs typeface="Helvetica Neue"/>
              </a:defRPr>
            </a:pPr>
            <a:r>
              <a:rPr sz="1500" b="1">
                <a:solidFill>
                  <a:srgbClr val="F5F2F7"/>
                </a:solidFill>
                <a:latin typeface="Helvetica Neue"/>
                <a:ea typeface="Helvetica Neue"/>
                <a:cs typeface="Helvetica Neue"/>
              </a:rPr>
              <a:t>&gt;$750M annual GMV</a:t>
            </a:r>
          </a:p>
          <a:p xmlns:a="http://schemas.openxmlformats.org/drawingml/2006/main">
            <a:pPr algn="l">
              <a:defRPr sz="1500" b="1">
                <a:solidFill>
                  <a:srgbClr val="F5F2F7"/>
                </a:solidFill>
                <a:latin typeface="Helvetica Neue"/>
                <a:ea typeface="Helvetica Neue"/>
                <a:cs typeface="Helvetica Neue"/>
              </a:defRPr>
            </a:pPr>
            <a:r>
              <a:rPr sz="1500" b="1">
                <a:solidFill>
                  <a:srgbClr val="F5F2F7"/>
                </a:solidFill>
                <a:latin typeface="Helvetica Neue"/>
                <a:ea typeface="Helvetica Neue"/>
                <a:cs typeface="Helvetica Neue"/>
              </a:rPr>
              <a:t>19.725M paid-ticket equivalents</a:t>
            </a:r>
          </a:p>
        </p:txBody>
      </p:sp>
    </p:spTree>
    <p:extLst>
      <p:ext uri="{BB962C8B-B14F-4D97-AF65-F5344CB8AC3E}">
        <p14:creationId xmlns:p14="http://schemas.microsoft.com/office/powerpoint/2010/main" val="1330337202"/>
      </p:ext>
    </p:extLst>
  </p:cSld>
</p:sld>
</file>

<file path=ppt/slides/slide9.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1A95C64-7E6A-4833-9B04-3145E0C04C34}"/>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748383-2B13-4CE3-88A6-BA8F58E615F6}"/>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TEAM AND EXECUTION</a:t>
            </a:r>
          </a:p>
        </p:txBody>
      </p:sp>
      <p:sp>
        <p:nvSpPr>
          <p:cNvPr id="3" name="">
            <a:extLst xmlns:a="http://schemas.openxmlformats.org/drawingml/2006/main">
              <a:ext uri="{FF2B5EF4-FFF2-40B4-BE49-F238E27FC236}">
                <a16:creationId xmlns:a16="http://schemas.microsoft.com/office/drawing/2014/main" id="{81DC6D4A-6058-4B22-8917-49B19BBBF52A}"/>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Technical founder, focused production roadmap</a:t>
            </a:r>
          </a:p>
        </p:txBody>
      </p:sp>
      <p:sp>
        <p:nvSpPr>
          <p:cNvPr id="4" name="">
            <a:extLst xmlns:a="http://schemas.openxmlformats.org/drawingml/2006/main">
              <a:ext uri="{FF2B5EF4-FFF2-40B4-BE49-F238E27FC236}">
                <a16:creationId xmlns:a16="http://schemas.microsoft.com/office/drawing/2014/main" id="{4B307498-2A3E-4DB1-8B9F-A5310957F370}"/>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214704-A683-4982-BE55-3C20BAAF1D10}"/>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AADE9C11-B894-4071-8778-8259446C3488}"/>
              </a:ext>
            </a:extLst>
          </p:cNvPr>
          <p:cNvSpPr>
            <a:spLocks xmlns:a="http://schemas.openxmlformats.org/drawingml/2006/main" noGrp="1"/>
          </p:cNvSpPr>
          <p:nvPr/>
        </p:nvSpPr>
        <p:spPr>
          <a:xfrm xmlns:a="http://schemas.openxmlformats.org/drawingml/2006/main">
            <a:off x="685800" y="16573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5F2F7"/>
                </a:solidFill>
                <a:latin typeface="Helvetica Neue"/>
                <a:ea typeface="Helvetica Neue"/>
                <a:cs typeface="Helvetica Neue"/>
              </a:defRPr>
            </a:pPr>
            <a:r>
              <a:rPr sz="2250" b="1">
                <a:solidFill>
                  <a:srgbClr val="F5F2F7"/>
                </a:solidFill>
                <a:latin typeface="Helvetica Neue"/>
                <a:ea typeface="Helvetica Neue"/>
                <a:cs typeface="Helvetica Neue"/>
              </a:rPr>
              <a:t>Demesheo Wilson</a:t>
            </a:r>
          </a:p>
        </p:txBody>
      </p:sp>
      <p:sp>
        <p:nvSpPr>
          <p:cNvPr id="7" name="">
            <a:extLst xmlns:a="http://schemas.openxmlformats.org/drawingml/2006/main">
              <a:ext uri="{FF2B5EF4-FFF2-40B4-BE49-F238E27FC236}">
                <a16:creationId xmlns:a16="http://schemas.microsoft.com/office/drawing/2014/main" id="{E9F21950-67BD-43D6-9C36-E59377BE276F}"/>
              </a:ext>
            </a:extLst>
          </p:cNvPr>
          <p:cNvSpPr>
            <a:spLocks xmlns:a="http://schemas.openxmlformats.org/drawingml/2006/main" noGrp="1"/>
          </p:cNvSpPr>
          <p:nvPr/>
        </p:nvSpPr>
        <p:spPr>
          <a:xfrm xmlns:a="http://schemas.openxmlformats.org/drawingml/2006/main">
            <a:off x="685800" y="21050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2B16A"/>
                </a:solidFill>
                <a:latin typeface="Helvetica Neue"/>
                <a:ea typeface="Helvetica Neue"/>
                <a:cs typeface="Helvetica Neue"/>
              </a:defRPr>
            </a:pPr>
            <a:r>
              <a:rPr sz="1350" b="0">
                <a:solidFill>
                  <a:srgbClr val="D2B16A"/>
                </a:solidFill>
                <a:latin typeface="Helvetica Neue"/>
                <a:ea typeface="Helvetica Neue"/>
                <a:cs typeface="Helvetica Neue"/>
              </a:rPr>
              <a:t>Senior software engineer / 10+ years</a:t>
            </a:r>
          </a:p>
        </p:txBody>
      </p:sp>
      <p:sp>
        <p:nvSpPr>
          <p:cNvPr id="8" name="">
            <a:extLst xmlns:a="http://schemas.openxmlformats.org/drawingml/2006/main">
              <a:ext uri="{FF2B5EF4-FFF2-40B4-BE49-F238E27FC236}">
                <a16:creationId xmlns:a16="http://schemas.microsoft.com/office/drawing/2014/main" id="{AED3015F-4F28-4E54-82FE-DBFFA7E33B1C}"/>
              </a:ext>
            </a:extLst>
          </p:cNvPr>
          <p:cNvSpPr>
            <a:spLocks xmlns:a="http://schemas.openxmlformats.org/drawingml/2006/main" noGrp="1"/>
          </p:cNvSpPr>
          <p:nvPr/>
        </p:nvSpPr>
        <p:spPr>
          <a:xfrm xmlns:a="http://schemas.openxmlformats.org/drawingml/2006/main">
            <a:off x="685800" y="2647950"/>
            <a:ext cx="4667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B6AFBD"/>
                </a:solidFill>
                <a:latin typeface="Helvetica Neue"/>
                <a:ea typeface="Helvetica Neue"/>
                <a:cs typeface="Helvetica Neue"/>
              </a:defRPr>
            </a:pPr>
            <a:r>
              <a:rPr sz="1650" b="0">
                <a:solidFill>
                  <a:srgbClr val="B6AFBD"/>
                </a:solidFill>
                <a:latin typeface="Helvetica Neue"/>
                <a:ea typeface="Helvetica Neue"/>
                <a:cs typeface="Helvetica Neue"/>
              </a:rPr>
              <a:t>Experience building multi-tenant access, React interfaces, PostgreSQL workflows, Stripe billing and automated payment-flow tests.</a:t>
            </a:r>
          </a:p>
        </p:txBody>
      </p:sp>
      <p:sp>
        <p:nvSpPr>
          <p:cNvPr id="9" name="">
            <a:extLst xmlns:a="http://schemas.openxmlformats.org/drawingml/2006/main">
              <a:ext uri="{FF2B5EF4-FFF2-40B4-BE49-F238E27FC236}">
                <a16:creationId xmlns:a16="http://schemas.microsoft.com/office/drawing/2014/main" id="{6D599866-3AFA-4E0E-A18D-B2E3FC8D5149}"/>
              </a:ext>
            </a:extLst>
          </p:cNvPr>
          <p:cNvSpPr>
            <a:spLocks xmlns:a="http://schemas.openxmlformats.org/drawingml/2006/main" noGrp="1"/>
          </p:cNvSpPr>
          <p:nvPr/>
        </p:nvSpPr>
        <p:spPr>
          <a:xfrm xmlns:a="http://schemas.openxmlformats.org/drawingml/2006/main">
            <a:off x="685800" y="4010025"/>
            <a:ext cx="46101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88818F"/>
                </a:solidFill>
                <a:latin typeface="Helvetica Neue"/>
                <a:ea typeface="Helvetica Neue"/>
                <a:cs typeface="Helvetica Neue"/>
              </a:defRPr>
            </a:pPr>
            <a:r>
              <a:rPr sz="1350" b="0">
                <a:solidFill>
                  <a:srgbClr val="88818F"/>
                </a:solidFill>
                <a:latin typeface="Helvetica Neue"/>
                <a:ea typeface="Helvetica Neue"/>
                <a:cs typeface="Helvetica Neue"/>
              </a:rPr>
              <a:t>Prior work spans government, healthcare and commerce. Early hiring priorities: payments reliability, venue success and risk operations.</a:t>
            </a:r>
          </a:p>
        </p:txBody>
      </p:sp>
      <p:sp>
        <p:nvSpPr>
          <p:cNvPr id="10" name="">
            <a:extLst xmlns:a="http://schemas.openxmlformats.org/drawingml/2006/main">
              <a:ext uri="{FF2B5EF4-FFF2-40B4-BE49-F238E27FC236}">
                <a16:creationId xmlns:a16="http://schemas.microsoft.com/office/drawing/2014/main" id="{B6ED2760-C2D1-475B-9B2C-E2481B75089E}"/>
              </a:ext>
            </a:extLst>
          </p:cNvPr>
          <p:cNvSpPr>
            <a:spLocks xmlns:a="http://schemas.openxmlformats.org/drawingml/2006/main" noGrp="1"/>
          </p:cNvSpPr>
          <p:nvPr/>
        </p:nvSpPr>
        <p:spPr>
          <a:xfrm xmlns:a="http://schemas.openxmlformats.org/drawingml/2006/main">
            <a:off x="5867400" y="1647825"/>
            <a:ext cx="9525" cy="379095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CD3D8B-D07B-467B-B2C6-B537A8BE9326}"/>
              </a:ext>
            </a:extLst>
          </p:cNvPr>
          <p:cNvSpPr>
            <a:spLocks xmlns:a="http://schemas.openxmlformats.org/drawingml/2006/main" noGrp="1"/>
          </p:cNvSpPr>
          <p:nvPr/>
        </p:nvSpPr>
        <p:spPr>
          <a:xfrm xmlns:a="http://schemas.openxmlformats.org/drawingml/2006/main">
            <a:off x="6343650" y="16764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5F2F7"/>
                </a:solidFill>
                <a:latin typeface="Helvetica Neue"/>
                <a:ea typeface="Helvetica Neue"/>
                <a:cs typeface="Helvetica Neue"/>
              </a:defRPr>
            </a:pPr>
            <a:r>
              <a:rPr sz="1800" b="1">
                <a:solidFill>
                  <a:srgbClr val="F5F2F7"/>
                </a:solidFill>
                <a:latin typeface="Helvetica Neue"/>
                <a:ea typeface="Helvetica Neue"/>
                <a:cs typeface="Helvetica Neue"/>
              </a:rPr>
              <a:t>Roadmap</a:t>
            </a:r>
          </a:p>
        </p:txBody>
      </p:sp>
      <p:sp>
        <p:nvSpPr>
          <p:cNvPr id="12" name="">
            <a:extLst xmlns:a="http://schemas.openxmlformats.org/drawingml/2006/main">
              <a:ext uri="{FF2B5EF4-FFF2-40B4-BE49-F238E27FC236}">
                <a16:creationId xmlns:a16="http://schemas.microsoft.com/office/drawing/2014/main" id="{DD8B7AE5-119D-4713-A07A-BFE9951B0A7A}"/>
              </a:ext>
            </a:extLst>
          </p:cNvPr>
          <p:cNvSpPr>
            <a:spLocks xmlns:a="http://schemas.openxmlformats.org/drawingml/2006/main" noGrp="1"/>
          </p:cNvSpPr>
          <p:nvPr/>
        </p:nvSpPr>
        <p:spPr>
          <a:xfrm xmlns:a="http://schemas.openxmlformats.org/drawingml/2006/main">
            <a:off x="6362700" y="2305050"/>
            <a:ext cx="76200" cy="76200"/>
          </a:xfrm>
          <a:prstGeom xmlns:a="http://schemas.openxmlformats.org/drawingml/2006/main" prst="ellipse">
            <a:avLst/>
          </a:prstGeom>
          <a:solidFill xmlns:a="http://schemas.openxmlformats.org/drawingml/2006/main">
            <a:srgbClr val="82B8A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0B52C6-E06B-4621-B957-02D1D975D2B7}"/>
              </a:ext>
            </a:extLst>
          </p:cNvPr>
          <p:cNvSpPr>
            <a:spLocks xmlns:a="http://schemas.openxmlformats.org/drawingml/2006/main" noGrp="1"/>
          </p:cNvSpPr>
          <p:nvPr/>
        </p:nvSpPr>
        <p:spPr>
          <a:xfrm xmlns:a="http://schemas.openxmlformats.org/drawingml/2006/main">
            <a:off x="6600825" y="22669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82B8A0"/>
                </a:solidFill>
                <a:latin typeface="Helvetica Neue"/>
                <a:ea typeface="Helvetica Neue"/>
                <a:cs typeface="Helvetica Neue"/>
              </a:defRPr>
            </a:pPr>
            <a:r>
              <a:rPr sz="1425" b="1">
                <a:solidFill>
                  <a:srgbClr val="82B8A0"/>
                </a:solidFill>
                <a:latin typeface="Helvetica Neue"/>
                <a:ea typeface="Helvetica Neue"/>
                <a:cs typeface="Helvetica Neue"/>
              </a:rPr>
              <a:t>Built</a:t>
            </a:r>
          </a:p>
        </p:txBody>
      </p:sp>
      <p:sp>
        <p:nvSpPr>
          <p:cNvPr id="14" name="">
            <a:extLst xmlns:a="http://schemas.openxmlformats.org/drawingml/2006/main">
              <a:ext uri="{FF2B5EF4-FFF2-40B4-BE49-F238E27FC236}">
                <a16:creationId xmlns:a16="http://schemas.microsoft.com/office/drawing/2014/main" id="{BCC14AA0-2AA8-4418-91A6-1D57D16AF8FC}"/>
              </a:ext>
            </a:extLst>
          </p:cNvPr>
          <p:cNvSpPr>
            <a:spLocks xmlns:a="http://schemas.openxmlformats.org/drawingml/2006/main" noGrp="1"/>
          </p:cNvSpPr>
          <p:nvPr/>
        </p:nvSpPr>
        <p:spPr>
          <a:xfrm xmlns:a="http://schemas.openxmlformats.org/drawingml/2006/main">
            <a:off x="6600825" y="2581275"/>
            <a:ext cx="45529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6AFBD"/>
                </a:solidFill>
                <a:latin typeface="Helvetica Neue"/>
                <a:ea typeface="Helvetica Neue"/>
                <a:cs typeface="Helvetica Neue"/>
              </a:defRPr>
            </a:pPr>
            <a:r>
              <a:rPr sz="1275" b="0">
                <a:solidFill>
                  <a:srgbClr val="B6AFBD"/>
                </a:solidFill>
                <a:latin typeface="Helvetica Neue"/>
                <a:ea typeface="Helvetica Neue"/>
                <a:cs typeface="Helvetica Neue"/>
              </a:rPr>
              <a:t>Customer, business and admin demo workflows</a:t>
            </a:r>
          </a:p>
        </p:txBody>
      </p:sp>
      <p:sp>
        <p:nvSpPr>
          <p:cNvPr id="15" name="">
            <a:extLst xmlns:a="http://schemas.openxmlformats.org/drawingml/2006/main">
              <a:ext uri="{FF2B5EF4-FFF2-40B4-BE49-F238E27FC236}">
                <a16:creationId xmlns:a16="http://schemas.microsoft.com/office/drawing/2014/main" id="{E973EA93-EE4B-4DF7-9E54-F1A3800A4BD0}"/>
              </a:ext>
            </a:extLst>
          </p:cNvPr>
          <p:cNvSpPr>
            <a:spLocks xmlns:a="http://schemas.openxmlformats.org/drawingml/2006/main" noGrp="1"/>
          </p:cNvSpPr>
          <p:nvPr/>
        </p:nvSpPr>
        <p:spPr>
          <a:xfrm xmlns:a="http://schemas.openxmlformats.org/drawingml/2006/main">
            <a:off x="6362700" y="3248025"/>
            <a:ext cx="76200" cy="76200"/>
          </a:xfrm>
          <a:prstGeom xmlns:a="http://schemas.openxmlformats.org/drawingml/2006/main" prst="ellipse">
            <a:avLst/>
          </a:prstGeom>
          <a:solidFill xmlns:a="http://schemas.openxmlformats.org/drawingml/2006/main">
            <a:srgbClr val="B9546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554183B-A903-4B3F-9425-D80E1745DA2F}"/>
              </a:ext>
            </a:extLst>
          </p:cNvPr>
          <p:cNvSpPr>
            <a:spLocks xmlns:a="http://schemas.openxmlformats.org/drawingml/2006/main" noGrp="1"/>
          </p:cNvSpPr>
          <p:nvPr/>
        </p:nvSpPr>
        <p:spPr>
          <a:xfrm xmlns:a="http://schemas.openxmlformats.org/drawingml/2006/main">
            <a:off x="6600825" y="32099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5F2F7"/>
                </a:solidFill>
                <a:latin typeface="Helvetica Neue"/>
                <a:ea typeface="Helvetica Neue"/>
                <a:cs typeface="Helvetica Neue"/>
              </a:defRPr>
            </a:pPr>
            <a:r>
              <a:rPr sz="1425" b="1">
                <a:solidFill>
                  <a:srgbClr val="F5F2F7"/>
                </a:solidFill>
                <a:latin typeface="Helvetica Neue"/>
                <a:ea typeface="Helvetica Neue"/>
                <a:cs typeface="Helvetica Neue"/>
              </a:rPr>
              <a:t>Next</a:t>
            </a:r>
          </a:p>
        </p:txBody>
      </p:sp>
      <p:sp>
        <p:nvSpPr>
          <p:cNvPr id="17" name="">
            <a:extLst xmlns:a="http://schemas.openxmlformats.org/drawingml/2006/main">
              <a:ext uri="{FF2B5EF4-FFF2-40B4-BE49-F238E27FC236}">
                <a16:creationId xmlns:a16="http://schemas.microsoft.com/office/drawing/2014/main" id="{EC9A0101-62EE-46F5-995A-97A0EFF3A2F6}"/>
              </a:ext>
            </a:extLst>
          </p:cNvPr>
          <p:cNvSpPr>
            <a:spLocks xmlns:a="http://schemas.openxmlformats.org/drawingml/2006/main" noGrp="1"/>
          </p:cNvSpPr>
          <p:nvPr/>
        </p:nvSpPr>
        <p:spPr>
          <a:xfrm xmlns:a="http://schemas.openxmlformats.org/drawingml/2006/main">
            <a:off x="6600825" y="3524250"/>
            <a:ext cx="45529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6AFBD"/>
                </a:solidFill>
                <a:latin typeface="Helvetica Neue"/>
                <a:ea typeface="Helvetica Neue"/>
                <a:cs typeface="Helvetica Neue"/>
              </a:defRPr>
            </a:pPr>
            <a:r>
              <a:rPr sz="1275" b="0">
                <a:solidFill>
                  <a:srgbClr val="B6AFBD"/>
                </a:solidFill>
                <a:latin typeface="Helvetica Neue"/>
                <a:ea typeface="Helvetica Neue"/>
                <a:cs typeface="Helvetica Neue"/>
              </a:rPr>
              <a:t>Stripe onboarding, ledger, risk controls and pricing guardrails</a:t>
            </a:r>
          </a:p>
        </p:txBody>
      </p:sp>
      <p:sp>
        <p:nvSpPr>
          <p:cNvPr id="18" name="">
            <a:extLst xmlns:a="http://schemas.openxmlformats.org/drawingml/2006/main">
              <a:ext uri="{FF2B5EF4-FFF2-40B4-BE49-F238E27FC236}">
                <a16:creationId xmlns:a16="http://schemas.microsoft.com/office/drawing/2014/main" id="{ADDF4C2D-D894-4D06-938D-ECEADEABAC3F}"/>
              </a:ext>
            </a:extLst>
          </p:cNvPr>
          <p:cNvSpPr>
            <a:spLocks xmlns:a="http://schemas.openxmlformats.org/drawingml/2006/main" noGrp="1"/>
          </p:cNvSpPr>
          <p:nvPr/>
        </p:nvSpPr>
        <p:spPr>
          <a:xfrm xmlns:a="http://schemas.openxmlformats.org/drawingml/2006/main">
            <a:off x="6362700" y="4191000"/>
            <a:ext cx="76200" cy="76200"/>
          </a:xfrm>
          <a:prstGeom xmlns:a="http://schemas.openxmlformats.org/drawingml/2006/main" prst="ellipse">
            <a:avLst/>
          </a:prstGeom>
          <a:solidFill xmlns:a="http://schemas.openxmlformats.org/drawingml/2006/main">
            <a:srgbClr val="775F9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BDF4B3-D97F-4377-85C8-F0302C704F38}"/>
              </a:ext>
            </a:extLst>
          </p:cNvPr>
          <p:cNvSpPr>
            <a:spLocks xmlns:a="http://schemas.openxmlformats.org/drawingml/2006/main" noGrp="1"/>
          </p:cNvSpPr>
          <p:nvPr/>
        </p:nvSpPr>
        <p:spPr>
          <a:xfrm xmlns:a="http://schemas.openxmlformats.org/drawingml/2006/main">
            <a:off x="6600825" y="41529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5F2F7"/>
                </a:solidFill>
                <a:latin typeface="Helvetica Neue"/>
                <a:ea typeface="Helvetica Neue"/>
                <a:cs typeface="Helvetica Neue"/>
              </a:defRPr>
            </a:pPr>
            <a:r>
              <a:rPr sz="1425" b="1">
                <a:solidFill>
                  <a:srgbClr val="F5F2F7"/>
                </a:solidFill>
                <a:latin typeface="Helvetica Neue"/>
                <a:ea typeface="Helvetica Neue"/>
                <a:cs typeface="Helvetica Neue"/>
              </a:rPr>
              <a:t>Then</a:t>
            </a:r>
          </a:p>
        </p:txBody>
      </p:sp>
      <p:sp>
        <p:nvSpPr>
          <p:cNvPr id="20" name="">
            <a:extLst xmlns:a="http://schemas.openxmlformats.org/drawingml/2006/main">
              <a:ext uri="{FF2B5EF4-FFF2-40B4-BE49-F238E27FC236}">
                <a16:creationId xmlns:a16="http://schemas.microsoft.com/office/drawing/2014/main" id="{A6BEBCFE-4C79-44EF-AA49-6528D04D8958}"/>
              </a:ext>
            </a:extLst>
          </p:cNvPr>
          <p:cNvSpPr>
            <a:spLocks xmlns:a="http://schemas.openxmlformats.org/drawingml/2006/main" noGrp="1"/>
          </p:cNvSpPr>
          <p:nvPr/>
        </p:nvSpPr>
        <p:spPr>
          <a:xfrm xmlns:a="http://schemas.openxmlformats.org/drawingml/2006/main">
            <a:off x="6600825" y="4467225"/>
            <a:ext cx="45529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6AFBD"/>
                </a:solidFill>
                <a:latin typeface="Helvetica Neue"/>
                <a:ea typeface="Helvetica Neue"/>
                <a:cs typeface="Helvetica Neue"/>
              </a:defRPr>
            </a:pPr>
            <a:r>
              <a:rPr sz="1275" b="0">
                <a:solidFill>
                  <a:srgbClr val="B6AFBD"/>
                </a:solidFill>
                <a:latin typeface="Helvetica Neue"/>
                <a:ea typeface="Helvetica Neue"/>
                <a:cs typeface="Helvetica Neue"/>
              </a:rPr>
              <a:t>Messaging, repeat-booking automation and measured market expansion</a:t>
            </a:r>
          </a:p>
        </p:txBody>
      </p:sp>
      <p:sp>
        <p:nvSpPr>
          <p:cNvPr id="21" name="">
            <a:extLst xmlns:a="http://schemas.openxmlformats.org/drawingml/2006/main">
              <a:ext uri="{FF2B5EF4-FFF2-40B4-BE49-F238E27FC236}">
                <a16:creationId xmlns:a16="http://schemas.microsoft.com/office/drawing/2014/main" id="{23C33C1F-F882-477C-9D29-73F22534F9C5}"/>
              </a:ext>
            </a:extLst>
          </p:cNvPr>
          <p:cNvSpPr>
            <a:spLocks xmlns:a="http://schemas.openxmlformats.org/drawingml/2006/main" noGrp="1"/>
          </p:cNvSpPr>
          <p:nvPr/>
        </p:nvSpPr>
        <p:spPr>
          <a:xfrm xmlns:a="http://schemas.openxmlformats.org/drawingml/2006/main">
            <a:off x="685800" y="56007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5F2F7"/>
                </a:solidFill>
                <a:latin typeface="Helvetica Neue"/>
                <a:ea typeface="Helvetica Neue"/>
                <a:cs typeface="Helvetica Neue"/>
              </a:defRPr>
            </a:pPr>
            <a:r>
              <a:rPr sz="1275" b="0">
                <a:solidFill>
                  <a:srgbClr val="F5F2F7"/>
                </a:solidFill>
                <a:latin typeface="Helvetica Neue"/>
                <a:ea typeface="Helvetica Neue"/>
                <a:cs typeface="Helvetica Neue"/>
              </a:rPr>
              <a:t>Planned stack: Render, Stripe Connect, Resend, Plivo, Upstash Redis, BullMQ, Cloudflare R2, GlitchTip.</a:t>
            </a:r>
          </a:p>
        </p:txBody>
      </p:sp>
    </p:spTree>
    <p:extLst>
      <p:ext uri="{BB962C8B-B14F-4D97-AF65-F5344CB8AC3E}">
        <p14:creationId xmlns:p14="http://schemas.microsoft.com/office/powerpoint/2010/main" val="1063869027"/>
      </p:ext>
    </p:extLst>
  </p:cSld>
</p:sld>
</file>

<file path=ppt/slides/slide10.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6AB62A9-3611-4576-B431-26E65463BF3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0076BA-13E6-4BC7-9ADF-CAA8C1B92F21}"/>
              </a:ext>
            </a:extLst>
          </p:cNvPr>
          <p:cNvSpPr>
            <a:spLocks xmlns:a="http://schemas.openxmlformats.org/drawingml/2006/main" noGrp="1"/>
          </p:cNvSpPr>
          <p:nvPr/>
        </p:nvSpPr>
        <p:spPr>
          <a:xfrm xmlns:a="http://schemas.openxmlformats.org/drawingml/2006/main">
            <a:off x="609600" y="381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D2B16A"/>
                </a:solidFill>
                <a:latin typeface="Helvetica Neue"/>
                <a:ea typeface="Helvetica Neue"/>
                <a:cs typeface="Helvetica Neue"/>
              </a:defRPr>
            </a:pPr>
            <a:r>
              <a:rPr sz="1125" b="1">
                <a:solidFill>
                  <a:srgbClr val="D2B16A"/>
                </a:solidFill>
                <a:latin typeface="Helvetica Neue"/>
                <a:ea typeface="Helvetica Neue"/>
                <a:cs typeface="Helvetica Neue"/>
              </a:rPr>
              <a:t>THE RAISE</a:t>
            </a:r>
          </a:p>
        </p:txBody>
      </p:sp>
      <p:sp>
        <p:nvSpPr>
          <p:cNvPr id="3" name="">
            <a:extLst xmlns:a="http://schemas.openxmlformats.org/drawingml/2006/main">
              <a:ext uri="{FF2B5EF4-FFF2-40B4-BE49-F238E27FC236}">
                <a16:creationId xmlns:a16="http://schemas.microsoft.com/office/drawing/2014/main" id="{FAAB522F-D21A-4FBA-B645-4B9E265200E1}"/>
              </a:ext>
            </a:extLst>
          </p:cNvPr>
          <p:cNvSpPr>
            <a:spLocks xmlns:a="http://schemas.openxmlformats.org/drawingml/2006/main" noGrp="1"/>
          </p:cNvSpPr>
          <p:nvPr/>
        </p:nvSpPr>
        <p:spPr>
          <a:xfrm xmlns:a="http://schemas.openxmlformats.org/drawingml/2006/main">
            <a:off x="609600" y="66675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5F2F7"/>
                </a:solidFill>
                <a:latin typeface="Helvetica Neue"/>
                <a:ea typeface="Helvetica Neue"/>
                <a:cs typeface="Helvetica Neue"/>
              </a:defRPr>
            </a:pPr>
            <a:r>
              <a:rPr sz="3150" b="1">
                <a:solidFill>
                  <a:srgbClr val="F5F2F7"/>
                </a:solidFill>
                <a:latin typeface="Helvetica Neue"/>
                <a:ea typeface="Helvetica Neue"/>
                <a:cs typeface="Helvetica Neue"/>
              </a:rPr>
              <a:t>$5M for production readiness and commercial proof</a:t>
            </a:r>
          </a:p>
        </p:txBody>
      </p:sp>
      <p:sp>
        <p:nvSpPr>
          <p:cNvPr id="4" name="">
            <a:extLst xmlns:a="http://schemas.openxmlformats.org/drawingml/2006/main">
              <a:ext uri="{FF2B5EF4-FFF2-40B4-BE49-F238E27FC236}">
                <a16:creationId xmlns:a16="http://schemas.microsoft.com/office/drawing/2014/main" id="{6489A0FF-053D-4CE9-A85C-D86428ECE1BC}"/>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C2ADCA-0B4E-4233-9150-9D66607B7237}"/>
              </a:ext>
            </a:extLst>
          </p:cNvPr>
          <p:cNvSpPr>
            <a:spLocks xmlns:a="http://schemas.openxmlformats.org/drawingml/2006/main" noGrp="1"/>
          </p:cNvSpPr>
          <p:nvPr/>
        </p:nvSpPr>
        <p:spPr>
          <a:xfrm xmlns:a="http://schemas.openxmlformats.org/drawingml/2006/main">
            <a:off x="11182350" y="63436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88818F"/>
                </a:solidFill>
                <a:latin typeface="Helvetica Neue"/>
                <a:ea typeface="Helvetica Neue"/>
                <a:cs typeface="Helvetica Neue"/>
              </a:defRPr>
            </a:pPr>
            <a:r>
              <a:rPr sz="1125" b="0">
                <a:solidFill>
                  <a:srgbClr val="88818F"/>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0D8E22CA-8815-4CD3-9324-9AE7540540E2}"/>
              </a:ext>
            </a:extLst>
          </p:cNvPr>
          <p:cNvSpPr>
            <a:spLocks xmlns:a="http://schemas.openxmlformats.org/drawingml/2006/main" noGrp="1"/>
          </p:cNvSpPr>
          <p:nvPr/>
        </p:nvSpPr>
        <p:spPr>
          <a:xfrm xmlns:a="http://schemas.openxmlformats.org/drawingml/2006/main">
            <a:off x="685800" y="1524000"/>
            <a:ext cx="4953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B6AFBD"/>
                </a:solidFill>
                <a:latin typeface="Helvetica Neue"/>
                <a:ea typeface="Helvetica Neue"/>
                <a:cs typeface="Helvetica Neue"/>
              </a:defRPr>
            </a:pPr>
            <a:r>
              <a:rPr sz="1425" b="0">
                <a:solidFill>
                  <a:srgbClr val="B6AFBD"/>
                </a:solidFill>
                <a:latin typeface="Helvetica Neue"/>
                <a:ea typeface="Helvetica Neue"/>
                <a:cs typeface="Helvetica Neue"/>
              </a:rPr>
              <a:t>Pre-seed capital target</a:t>
            </a:r>
          </a:p>
        </p:txBody>
      </p:sp>
      <p:sp>
        <p:nvSpPr>
          <p:cNvPr id="7" name="">
            <a:extLst xmlns:a="http://schemas.openxmlformats.org/drawingml/2006/main">
              <a:ext uri="{FF2B5EF4-FFF2-40B4-BE49-F238E27FC236}">
                <a16:creationId xmlns:a16="http://schemas.microsoft.com/office/drawing/2014/main" id="{485B9798-EC77-4072-AAD9-BC17AA6FE056}"/>
              </a:ext>
            </a:extLst>
          </p:cNvPr>
          <p:cNvSpPr>
            <a:spLocks xmlns:a="http://schemas.openxmlformats.org/drawingml/2006/main" noGrp="1"/>
          </p:cNvSpPr>
          <p:nvPr/>
        </p:nvSpPr>
        <p:spPr>
          <a:xfrm xmlns:a="http://schemas.openxmlformats.org/drawingml/2006/main">
            <a:off x="685800" y="1905000"/>
            <a:ext cx="4191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D2B16A"/>
                </a:solidFill>
                <a:latin typeface="Helvetica Neue"/>
                <a:ea typeface="Helvetica Neue"/>
                <a:cs typeface="Helvetica Neue"/>
              </a:defRPr>
            </a:pPr>
            <a:r>
              <a:rPr sz="4650" b="1">
                <a:solidFill>
                  <a:srgbClr val="D2B16A"/>
                </a:solidFill>
                <a:latin typeface="Helvetica Neue"/>
                <a:ea typeface="Helvetica Neue"/>
                <a:cs typeface="Helvetica Neue"/>
              </a:rPr>
              <a:t>$5M</a:t>
            </a:r>
          </a:p>
        </p:txBody>
      </p:sp>
      <p:sp>
        <p:nvSpPr>
          <p:cNvPr id="8" name="">
            <a:extLst xmlns:a="http://schemas.openxmlformats.org/drawingml/2006/main">
              <a:ext uri="{FF2B5EF4-FFF2-40B4-BE49-F238E27FC236}">
                <a16:creationId xmlns:a16="http://schemas.microsoft.com/office/drawing/2014/main" id="{7C2B0B85-2D94-4B0A-8EB5-21C9224C4918}"/>
              </a:ext>
            </a:extLst>
          </p:cNvPr>
          <p:cNvSpPr>
            <a:spLocks xmlns:a="http://schemas.openxmlformats.org/drawingml/2006/main" noGrp="1"/>
          </p:cNvSpPr>
          <p:nvPr/>
        </p:nvSpPr>
        <p:spPr>
          <a:xfrm xmlns:a="http://schemas.openxmlformats.org/drawingml/2006/main">
            <a:off x="704850" y="2809875"/>
            <a:ext cx="457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B6AFBD"/>
                </a:solidFill>
                <a:latin typeface="Helvetica Neue"/>
                <a:ea typeface="Helvetica Neue"/>
                <a:cs typeface="Helvetica Neue"/>
              </a:defRPr>
            </a:pPr>
            <a:r>
              <a:rPr sz="1575" b="0">
                <a:solidFill>
                  <a:srgbClr val="B6AFBD"/>
                </a:solidFill>
                <a:latin typeface="Helvetica Neue"/>
                <a:ea typeface="Helvetica Neue"/>
                <a:cs typeface="Helvetica Neue"/>
              </a:rPr>
              <a:t>A six-month execution target, with spending released against delivery and pilot evidence.</a:t>
            </a:r>
          </a:p>
        </p:txBody>
      </p:sp>
      <p:sp>
        <p:nvSpPr>
          <p:cNvPr id="9" name="">
            <a:extLst xmlns:a="http://schemas.openxmlformats.org/drawingml/2006/main">
              <a:ext uri="{FF2B5EF4-FFF2-40B4-BE49-F238E27FC236}">
                <a16:creationId xmlns:a16="http://schemas.microsoft.com/office/drawing/2014/main" id="{AC394768-BE0D-4E72-9721-AE05E85D1555}"/>
              </a:ext>
            </a:extLst>
          </p:cNvPr>
          <p:cNvSpPr>
            <a:spLocks xmlns:a="http://schemas.openxmlformats.org/drawingml/2006/main" noGrp="1"/>
          </p:cNvSpPr>
          <p:nvPr/>
        </p:nvSpPr>
        <p:spPr>
          <a:xfrm xmlns:a="http://schemas.openxmlformats.org/drawingml/2006/main">
            <a:off x="5905500" y="1504950"/>
            <a:ext cx="9525" cy="4267200"/>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8782E5-CEC5-4438-B70C-64C803914473}"/>
              </a:ext>
            </a:extLst>
          </p:cNvPr>
          <p:cNvSpPr>
            <a:spLocks xmlns:a="http://schemas.openxmlformats.org/drawingml/2006/main" noGrp="1"/>
          </p:cNvSpPr>
          <p:nvPr/>
        </p:nvSpPr>
        <p:spPr>
          <a:xfrm xmlns:a="http://schemas.openxmlformats.org/drawingml/2006/main">
            <a:off x="6400800" y="15144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F5F2F7"/>
                </a:solidFill>
                <a:latin typeface="Helvetica Neue"/>
                <a:ea typeface="Helvetica Neue"/>
                <a:cs typeface="Helvetica Neue"/>
              </a:defRPr>
            </a:pPr>
            <a:r>
              <a:rPr sz="1313" b="0">
                <a:solidFill>
                  <a:srgbClr val="F5F2F7"/>
                </a:solidFill>
                <a:latin typeface="Helvetica Neue"/>
                <a:ea typeface="Helvetica Neue"/>
                <a:cs typeface="Helvetica Neue"/>
              </a:rPr>
              <a:t>Product and engineering</a:t>
            </a:r>
          </a:p>
        </p:txBody>
      </p:sp>
      <p:sp>
        <p:nvSpPr>
          <p:cNvPr id="11" name="">
            <a:extLst xmlns:a="http://schemas.openxmlformats.org/drawingml/2006/main">
              <a:ext uri="{FF2B5EF4-FFF2-40B4-BE49-F238E27FC236}">
                <a16:creationId xmlns:a16="http://schemas.microsoft.com/office/drawing/2014/main" id="{D0665887-722B-47AF-BA48-F035999407BD}"/>
              </a:ext>
            </a:extLst>
          </p:cNvPr>
          <p:cNvSpPr>
            <a:spLocks xmlns:a="http://schemas.openxmlformats.org/drawingml/2006/main" noGrp="1"/>
          </p:cNvSpPr>
          <p:nvPr/>
        </p:nvSpPr>
        <p:spPr>
          <a:xfrm xmlns:a="http://schemas.openxmlformats.org/drawingml/2006/main">
            <a:off x="10210800" y="1514475"/>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$2.25M</a:t>
            </a:r>
          </a:p>
        </p:txBody>
      </p:sp>
      <p:sp>
        <p:nvSpPr>
          <p:cNvPr id="12" name="">
            <a:extLst xmlns:a="http://schemas.openxmlformats.org/drawingml/2006/main">
              <a:ext uri="{FF2B5EF4-FFF2-40B4-BE49-F238E27FC236}">
                <a16:creationId xmlns:a16="http://schemas.microsoft.com/office/drawing/2014/main" id="{20029D03-BA79-48C2-8313-52F42B6790C1}"/>
              </a:ext>
            </a:extLst>
          </p:cNvPr>
          <p:cNvSpPr>
            <a:spLocks xmlns:a="http://schemas.openxmlformats.org/drawingml/2006/main" noGrp="1"/>
          </p:cNvSpPr>
          <p:nvPr/>
        </p:nvSpPr>
        <p:spPr>
          <a:xfrm xmlns:a="http://schemas.openxmlformats.org/drawingml/2006/main">
            <a:off x="6400800" y="1847850"/>
            <a:ext cx="4953000" cy="66675"/>
          </a:xfrm>
          <a:prstGeom xmlns:a="http://schemas.openxmlformats.org/drawingml/2006/main" prst="rect">
            <a:avLst/>
          </a:prstGeom>
          <a:solidFill xmlns:a="http://schemas.openxmlformats.org/drawingml/2006/main">
            <a:srgbClr val="2823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8873F5E-068D-46D5-8AAC-69800D9C1827}"/>
              </a:ext>
            </a:extLst>
          </p:cNvPr>
          <p:cNvSpPr>
            <a:spLocks xmlns:a="http://schemas.openxmlformats.org/drawingml/2006/main" noGrp="1"/>
          </p:cNvSpPr>
          <p:nvPr/>
        </p:nvSpPr>
        <p:spPr>
          <a:xfrm xmlns:a="http://schemas.openxmlformats.org/drawingml/2006/main">
            <a:off x="6400800" y="1847850"/>
            <a:ext cx="2228850" cy="66675"/>
          </a:xfrm>
          <a:prstGeom xmlns:a="http://schemas.openxmlformats.org/drawingml/2006/main" prst="rect">
            <a:avLst/>
          </a:prstGeom>
          <a:solidFill xmlns:a="http://schemas.openxmlformats.org/drawingml/2006/main">
            <a:srgbClr val="B9546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935975-608B-45C9-AC9F-D75034B0DDAB}"/>
              </a:ext>
            </a:extLst>
          </p:cNvPr>
          <p:cNvSpPr>
            <a:spLocks xmlns:a="http://schemas.openxmlformats.org/drawingml/2006/main" noGrp="1"/>
          </p:cNvSpPr>
          <p:nvPr/>
        </p:nvSpPr>
        <p:spPr>
          <a:xfrm xmlns:a="http://schemas.openxmlformats.org/drawingml/2006/main">
            <a:off x="6400800" y="2133600"/>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F5F2F7"/>
                </a:solidFill>
                <a:latin typeface="Helvetica Neue"/>
                <a:ea typeface="Helvetica Neue"/>
                <a:cs typeface="Helvetica Neue"/>
              </a:defRPr>
            </a:pPr>
            <a:r>
              <a:rPr sz="1313" b="0">
                <a:solidFill>
                  <a:srgbClr val="F5F2F7"/>
                </a:solidFill>
                <a:latin typeface="Helvetica Neue"/>
                <a:ea typeface="Helvetica Neue"/>
                <a:cs typeface="Helvetica Neue"/>
              </a:rPr>
              <a:t>Operations and infrastructure</a:t>
            </a:r>
          </a:p>
        </p:txBody>
      </p:sp>
      <p:sp>
        <p:nvSpPr>
          <p:cNvPr id="15" name="">
            <a:extLst xmlns:a="http://schemas.openxmlformats.org/drawingml/2006/main">
              <a:ext uri="{FF2B5EF4-FFF2-40B4-BE49-F238E27FC236}">
                <a16:creationId xmlns:a16="http://schemas.microsoft.com/office/drawing/2014/main" id="{E8D99E55-B28C-4413-8C8D-38E13A1ED48E}"/>
              </a:ext>
            </a:extLst>
          </p:cNvPr>
          <p:cNvSpPr>
            <a:spLocks xmlns:a="http://schemas.openxmlformats.org/drawingml/2006/main" noGrp="1"/>
          </p:cNvSpPr>
          <p:nvPr/>
        </p:nvSpPr>
        <p:spPr>
          <a:xfrm xmlns:a="http://schemas.openxmlformats.org/drawingml/2006/main">
            <a:off x="10210800" y="21336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$1.00M</a:t>
            </a:r>
          </a:p>
        </p:txBody>
      </p:sp>
      <p:sp>
        <p:nvSpPr>
          <p:cNvPr id="16" name="">
            <a:extLst xmlns:a="http://schemas.openxmlformats.org/drawingml/2006/main">
              <a:ext uri="{FF2B5EF4-FFF2-40B4-BE49-F238E27FC236}">
                <a16:creationId xmlns:a16="http://schemas.microsoft.com/office/drawing/2014/main" id="{CDC9CAF2-05EA-4969-B16A-32928EB4B546}"/>
              </a:ext>
            </a:extLst>
          </p:cNvPr>
          <p:cNvSpPr>
            <a:spLocks xmlns:a="http://schemas.openxmlformats.org/drawingml/2006/main" noGrp="1"/>
          </p:cNvSpPr>
          <p:nvPr/>
        </p:nvSpPr>
        <p:spPr>
          <a:xfrm xmlns:a="http://schemas.openxmlformats.org/drawingml/2006/main">
            <a:off x="6400800" y="2466975"/>
            <a:ext cx="4953000" cy="66675"/>
          </a:xfrm>
          <a:prstGeom xmlns:a="http://schemas.openxmlformats.org/drawingml/2006/main" prst="rect">
            <a:avLst/>
          </a:prstGeom>
          <a:solidFill xmlns:a="http://schemas.openxmlformats.org/drawingml/2006/main">
            <a:srgbClr val="2823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D7F7C79-08AF-4297-BA33-612AE6A8287B}"/>
              </a:ext>
            </a:extLst>
          </p:cNvPr>
          <p:cNvSpPr>
            <a:spLocks xmlns:a="http://schemas.openxmlformats.org/drawingml/2006/main" noGrp="1"/>
          </p:cNvSpPr>
          <p:nvPr/>
        </p:nvSpPr>
        <p:spPr>
          <a:xfrm xmlns:a="http://schemas.openxmlformats.org/drawingml/2006/main">
            <a:off x="6400800" y="2466975"/>
            <a:ext cx="990600" cy="66675"/>
          </a:xfrm>
          <a:prstGeom xmlns:a="http://schemas.openxmlformats.org/drawingml/2006/main" prst="rect">
            <a:avLst/>
          </a:prstGeom>
          <a:solidFill xmlns:a="http://schemas.openxmlformats.org/drawingml/2006/main">
            <a:srgbClr val="8881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8CC85A8-AEF8-4BFE-BF17-3A69CD15C2FF}"/>
              </a:ext>
            </a:extLst>
          </p:cNvPr>
          <p:cNvSpPr>
            <a:spLocks xmlns:a="http://schemas.openxmlformats.org/drawingml/2006/main" noGrp="1"/>
          </p:cNvSpPr>
          <p:nvPr/>
        </p:nvSpPr>
        <p:spPr>
          <a:xfrm xmlns:a="http://schemas.openxmlformats.org/drawingml/2006/main">
            <a:off x="6400800" y="275272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F5F2F7"/>
                </a:solidFill>
                <a:latin typeface="Helvetica Neue"/>
                <a:ea typeface="Helvetica Neue"/>
                <a:cs typeface="Helvetica Neue"/>
              </a:defRPr>
            </a:pPr>
            <a:r>
              <a:rPr sz="1313" b="0">
                <a:solidFill>
                  <a:srgbClr val="F5F2F7"/>
                </a:solidFill>
                <a:latin typeface="Helvetica Neue"/>
                <a:ea typeface="Helvetica Neue"/>
                <a:cs typeface="Helvetica Neue"/>
              </a:rPr>
              <a:t>Marketing, outreach and expansion</a:t>
            </a:r>
          </a:p>
        </p:txBody>
      </p:sp>
      <p:sp>
        <p:nvSpPr>
          <p:cNvPr id="19" name="">
            <a:extLst xmlns:a="http://schemas.openxmlformats.org/drawingml/2006/main">
              <a:ext uri="{FF2B5EF4-FFF2-40B4-BE49-F238E27FC236}">
                <a16:creationId xmlns:a16="http://schemas.microsoft.com/office/drawing/2014/main" id="{736CD148-3908-4FEC-A194-7CC90395AEDE}"/>
              </a:ext>
            </a:extLst>
          </p:cNvPr>
          <p:cNvSpPr>
            <a:spLocks xmlns:a="http://schemas.openxmlformats.org/drawingml/2006/main" noGrp="1"/>
          </p:cNvSpPr>
          <p:nvPr/>
        </p:nvSpPr>
        <p:spPr>
          <a:xfrm xmlns:a="http://schemas.openxmlformats.org/drawingml/2006/main">
            <a:off x="10210800" y="2752725"/>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$1.00M</a:t>
            </a:r>
          </a:p>
        </p:txBody>
      </p:sp>
      <p:sp>
        <p:nvSpPr>
          <p:cNvPr id="20" name="">
            <a:extLst xmlns:a="http://schemas.openxmlformats.org/drawingml/2006/main">
              <a:ext uri="{FF2B5EF4-FFF2-40B4-BE49-F238E27FC236}">
                <a16:creationId xmlns:a16="http://schemas.microsoft.com/office/drawing/2014/main" id="{DE54052D-6AC3-4296-BFF8-406002F6493A}"/>
              </a:ext>
            </a:extLst>
          </p:cNvPr>
          <p:cNvSpPr>
            <a:spLocks xmlns:a="http://schemas.openxmlformats.org/drawingml/2006/main" noGrp="1"/>
          </p:cNvSpPr>
          <p:nvPr/>
        </p:nvSpPr>
        <p:spPr>
          <a:xfrm xmlns:a="http://schemas.openxmlformats.org/drawingml/2006/main">
            <a:off x="6400800" y="3086100"/>
            <a:ext cx="4953000" cy="66675"/>
          </a:xfrm>
          <a:prstGeom xmlns:a="http://schemas.openxmlformats.org/drawingml/2006/main" prst="rect">
            <a:avLst/>
          </a:prstGeom>
          <a:solidFill xmlns:a="http://schemas.openxmlformats.org/drawingml/2006/main">
            <a:srgbClr val="28232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1A9CF94-7E2C-4182-B60D-75259CFC7EFF}"/>
              </a:ext>
            </a:extLst>
          </p:cNvPr>
          <p:cNvSpPr>
            <a:spLocks xmlns:a="http://schemas.openxmlformats.org/drawingml/2006/main" noGrp="1"/>
          </p:cNvSpPr>
          <p:nvPr/>
        </p:nvSpPr>
        <p:spPr>
          <a:xfrm xmlns:a="http://schemas.openxmlformats.org/drawingml/2006/main">
            <a:off x="6400800" y="3086100"/>
            <a:ext cx="990600" cy="66675"/>
          </a:xfrm>
          <a:prstGeom xmlns:a="http://schemas.openxmlformats.org/drawingml/2006/main" prst="rect">
            <a:avLst/>
          </a:prstGeom>
          <a:solidFill xmlns:a="http://schemas.openxmlformats.org/drawingml/2006/main">
            <a:srgbClr val="775F9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9C281F1-2342-4308-8AB7-0200F03B66B0}"/>
              </a:ext>
            </a:extLst>
          </p:cNvPr>
          <p:cNvSpPr>
            <a:spLocks xmlns:a="http://schemas.openxmlformats.org/drawingml/2006/main" noGrp="1"/>
          </p:cNvSpPr>
          <p:nvPr/>
        </p:nvSpPr>
        <p:spPr>
          <a:xfrm xmlns:a="http://schemas.openxmlformats.org/drawingml/2006/main">
            <a:off x="6400800" y="3371850"/>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F5F2F7"/>
                </a:solidFill>
                <a:latin typeface="Helvetica Neue"/>
                <a:ea typeface="Helvetica Neue"/>
                <a:cs typeface="Helvetica Neue"/>
              </a:defRPr>
            </a:pPr>
            <a:r>
              <a:rPr sz="1313" b="0">
                <a:solidFill>
                  <a:srgbClr val="F5F2F7"/>
                </a:solidFill>
                <a:latin typeface="Helvetica Neue"/>
                <a:ea typeface="Helvetica Neue"/>
                <a:cs typeface="Helvetica Neue"/>
              </a:rPr>
              <a:t>Legal, payments, and risk</a:t>
            </a:r>
          </a:p>
        </p:txBody>
      </p:sp>
      <p:sp>
        <p:nvSpPr>
          <p:cNvPr id="23" name="">
            <a:extLst xmlns:a="http://schemas.openxmlformats.org/drawingml/2006/main">
              <a:ext uri="{FF2B5EF4-FFF2-40B4-BE49-F238E27FC236}">
                <a16:creationId xmlns:a16="http://schemas.microsoft.com/office/drawing/2014/main" id="{FF0507CA-A83B-44E3-A7B9-A8DAB1BB36E0}"/>
              </a:ext>
            </a:extLst>
          </p:cNvPr>
          <p:cNvSpPr>
            <a:spLocks xmlns:a="http://schemas.openxmlformats.org/drawingml/2006/main" noGrp="1"/>
          </p:cNvSpPr>
          <p:nvPr/>
        </p:nvSpPr>
        <p:spPr>
          <a:xfrm xmlns:a="http://schemas.openxmlformats.org/drawingml/2006/main">
            <a:off x="10210800" y="3371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$500K</a:t>
            </a:r>
          </a:p>
        </p:txBody>
      </p:sp>
      <p:sp>
        <p:nvSpPr>
          <p:cNvPr id="24" name="">
            <a:extLst xmlns:a="http://schemas.openxmlformats.org/drawingml/2006/main">
              <a:ext uri="{FF2B5EF4-FFF2-40B4-BE49-F238E27FC236}">
                <a16:creationId xmlns:a16="http://schemas.microsoft.com/office/drawing/2014/main" id="{C44ABC44-25FA-4CB3-9000-5E1E7018BF2A}"/>
              </a:ext>
            </a:extLst>
          </p:cNvPr>
          <p:cNvSpPr>
            <a:spLocks xmlns:a="http://schemas.openxmlformats.org/drawingml/2006/main" noGrp="1"/>
          </p:cNvSpPr>
          <p:nvPr/>
        </p:nvSpPr>
        <p:spPr>
          <a:xfrm xmlns:a="http://schemas.openxmlformats.org/drawingml/2006/main">
            <a:off x="6400800" y="3705225"/>
            <a:ext cx="4953000" cy="66675"/>
          </a:xfrm>
          <a:prstGeom xmlns:a="http://schemas.openxmlformats.org/drawingml/2006/main" prst="rect">
            <a:avLst/>
          </a:prstGeom>
          <a:solidFill xmlns:a="http://schemas.openxmlformats.org/drawingml/2006/main">
            <a:srgbClr val="28232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A6D28DB-E795-4818-A11E-BF716BC7677C}"/>
              </a:ext>
            </a:extLst>
          </p:cNvPr>
          <p:cNvSpPr>
            <a:spLocks xmlns:a="http://schemas.openxmlformats.org/drawingml/2006/main" noGrp="1"/>
          </p:cNvSpPr>
          <p:nvPr/>
        </p:nvSpPr>
        <p:spPr>
          <a:xfrm xmlns:a="http://schemas.openxmlformats.org/drawingml/2006/main">
            <a:off x="6400800" y="3705225"/>
            <a:ext cx="495300" cy="66675"/>
          </a:xfrm>
          <a:prstGeom xmlns:a="http://schemas.openxmlformats.org/drawingml/2006/main" prst="rect">
            <a:avLst/>
          </a:prstGeom>
          <a:solidFill xmlns:a="http://schemas.openxmlformats.org/drawingml/2006/main">
            <a:srgbClr val="82B8A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6BE9449-EFC6-4F7C-A84E-4B820044CEF7}"/>
              </a:ext>
            </a:extLst>
          </p:cNvPr>
          <p:cNvSpPr>
            <a:spLocks xmlns:a="http://schemas.openxmlformats.org/drawingml/2006/main" noGrp="1"/>
          </p:cNvSpPr>
          <p:nvPr/>
        </p:nvSpPr>
        <p:spPr>
          <a:xfrm xmlns:a="http://schemas.openxmlformats.org/drawingml/2006/main">
            <a:off x="6400800" y="39909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F5F2F7"/>
                </a:solidFill>
                <a:latin typeface="Helvetica Neue"/>
                <a:ea typeface="Helvetica Neue"/>
                <a:cs typeface="Helvetica Neue"/>
              </a:defRPr>
            </a:pPr>
            <a:r>
              <a:rPr sz="1313" b="0">
                <a:solidFill>
                  <a:srgbClr val="F5F2F7"/>
                </a:solidFill>
                <a:latin typeface="Helvetica Neue"/>
                <a:ea typeface="Helvetica Neue"/>
                <a:cs typeface="Helvetica Neue"/>
              </a:rPr>
              <a:t>Contingency</a:t>
            </a:r>
          </a:p>
        </p:txBody>
      </p:sp>
      <p:sp>
        <p:nvSpPr>
          <p:cNvPr id="27" name="">
            <a:extLst xmlns:a="http://schemas.openxmlformats.org/drawingml/2006/main">
              <a:ext uri="{FF2B5EF4-FFF2-40B4-BE49-F238E27FC236}">
                <a16:creationId xmlns:a16="http://schemas.microsoft.com/office/drawing/2014/main" id="{38445E36-CD4F-4463-B154-4274AB7BF5AF}"/>
              </a:ext>
            </a:extLst>
          </p:cNvPr>
          <p:cNvSpPr>
            <a:spLocks xmlns:a="http://schemas.openxmlformats.org/drawingml/2006/main" noGrp="1"/>
          </p:cNvSpPr>
          <p:nvPr/>
        </p:nvSpPr>
        <p:spPr>
          <a:xfrm xmlns:a="http://schemas.openxmlformats.org/drawingml/2006/main">
            <a:off x="10210800" y="3990975"/>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D2B16A"/>
                </a:solidFill>
                <a:latin typeface="Helvetica Neue"/>
                <a:ea typeface="Helvetica Neue"/>
                <a:cs typeface="Helvetica Neue"/>
              </a:defRPr>
            </a:pPr>
            <a:r>
              <a:rPr sz="1350" b="1">
                <a:solidFill>
                  <a:srgbClr val="D2B16A"/>
                </a:solidFill>
                <a:latin typeface="Helvetica Neue"/>
                <a:ea typeface="Helvetica Neue"/>
                <a:cs typeface="Helvetica Neue"/>
              </a:rPr>
              <a:t>$250K</a:t>
            </a:r>
          </a:p>
        </p:txBody>
      </p:sp>
      <p:sp>
        <p:nvSpPr>
          <p:cNvPr id="28" name="">
            <a:extLst xmlns:a="http://schemas.openxmlformats.org/drawingml/2006/main">
              <a:ext uri="{FF2B5EF4-FFF2-40B4-BE49-F238E27FC236}">
                <a16:creationId xmlns:a16="http://schemas.microsoft.com/office/drawing/2014/main" id="{4FFD3C91-A60D-4FA2-962F-3092D8EA0D91}"/>
              </a:ext>
            </a:extLst>
          </p:cNvPr>
          <p:cNvSpPr>
            <a:spLocks xmlns:a="http://schemas.openxmlformats.org/drawingml/2006/main" noGrp="1"/>
          </p:cNvSpPr>
          <p:nvPr/>
        </p:nvSpPr>
        <p:spPr>
          <a:xfrm xmlns:a="http://schemas.openxmlformats.org/drawingml/2006/main">
            <a:off x="6400800" y="4324350"/>
            <a:ext cx="4953000" cy="66675"/>
          </a:xfrm>
          <a:prstGeom xmlns:a="http://schemas.openxmlformats.org/drawingml/2006/main" prst="rect">
            <a:avLst/>
          </a:prstGeom>
          <a:solidFill xmlns:a="http://schemas.openxmlformats.org/drawingml/2006/main">
            <a:srgbClr val="28232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58A9E45-EC2C-47F1-8E1B-5B9F6AE0B13E}"/>
              </a:ext>
            </a:extLst>
          </p:cNvPr>
          <p:cNvSpPr>
            <a:spLocks xmlns:a="http://schemas.openxmlformats.org/drawingml/2006/main" noGrp="1"/>
          </p:cNvSpPr>
          <p:nvPr/>
        </p:nvSpPr>
        <p:spPr>
          <a:xfrm xmlns:a="http://schemas.openxmlformats.org/drawingml/2006/main">
            <a:off x="6400800" y="4324350"/>
            <a:ext cx="247650" cy="66675"/>
          </a:xfrm>
          <a:prstGeom xmlns:a="http://schemas.openxmlformats.org/drawingml/2006/main" prst="rect">
            <a:avLst/>
          </a:prstGeom>
          <a:solidFill xmlns:a="http://schemas.openxmlformats.org/drawingml/2006/main">
            <a:srgbClr val="D0B66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48084C3-0022-4077-B57F-C0ACFD3E1F6A}"/>
              </a:ext>
            </a:extLst>
          </p:cNvPr>
          <p:cNvSpPr>
            <a:spLocks xmlns:a="http://schemas.openxmlformats.org/drawingml/2006/main" noGrp="1"/>
          </p:cNvSpPr>
          <p:nvPr/>
        </p:nvSpPr>
        <p:spPr>
          <a:xfrm xmlns:a="http://schemas.openxmlformats.org/drawingml/2006/main">
            <a:off x="685800" y="3829050"/>
            <a:ext cx="4572000" cy="9525"/>
          </a:xfrm>
          <a:prstGeom xmlns:a="http://schemas.openxmlformats.org/drawingml/2006/main" prst="rect">
            <a:avLst/>
          </a:prstGeom>
          <a:solidFill xmlns:a="http://schemas.openxmlformats.org/drawingml/2006/main">
            <a:srgbClr val="39333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D0B28A9-97F6-40CD-8D21-17BAC9580693}"/>
              </a:ext>
            </a:extLst>
          </p:cNvPr>
          <p:cNvSpPr>
            <a:spLocks xmlns:a="http://schemas.openxmlformats.org/drawingml/2006/main" noGrp="1"/>
          </p:cNvSpPr>
          <p:nvPr/>
        </p:nvSpPr>
        <p:spPr>
          <a:xfrm xmlns:a="http://schemas.openxmlformats.org/drawingml/2006/main">
            <a:off x="685800" y="4086225"/>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5F2F7"/>
                </a:solidFill>
                <a:latin typeface="Helvetica Neue"/>
                <a:ea typeface="Helvetica Neue"/>
                <a:cs typeface="Helvetica Neue"/>
              </a:defRPr>
            </a:pPr>
            <a:r>
              <a:rPr sz="1575" b="1">
                <a:solidFill>
                  <a:srgbClr val="F5F2F7"/>
                </a:solidFill>
                <a:latin typeface="Helvetica Neue"/>
                <a:ea typeface="Helvetica Neue"/>
                <a:cs typeface="Helvetica Neue"/>
              </a:rPr>
              <a:t>6-month milestones</a:t>
            </a:r>
          </a:p>
        </p:txBody>
      </p:sp>
      <p:sp>
        <p:nvSpPr>
          <p:cNvPr id="32" name="">
            <a:extLst xmlns:a="http://schemas.openxmlformats.org/drawingml/2006/main">
              <a:ext uri="{FF2B5EF4-FFF2-40B4-BE49-F238E27FC236}">
                <a16:creationId xmlns:a16="http://schemas.microsoft.com/office/drawing/2014/main" id="{44F15CDA-9763-4E7D-BE25-467BCBC710F7}"/>
              </a:ext>
            </a:extLst>
          </p:cNvPr>
          <p:cNvSpPr>
            <a:spLocks xmlns:a="http://schemas.openxmlformats.org/drawingml/2006/main" noGrp="1"/>
          </p:cNvSpPr>
          <p:nvPr/>
        </p:nvSpPr>
        <p:spPr>
          <a:xfrm xmlns:a="http://schemas.openxmlformats.org/drawingml/2006/main">
            <a:off x="685800" y="4533900"/>
            <a:ext cx="46482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Months 1–2: payments, ledger and pilot readiness</a:t>
            </a:r>
          </a:p>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Months 3–4: controlled paid launch and cohorts</a:t>
            </a:r>
          </a:p>
          <a:p xmlns:a="http://schemas.openxmlformats.org/drawingml/2006/main">
            <a:pPr algn="l">
              <a:defRPr sz="1350" b="0">
                <a:solidFill>
                  <a:srgbClr val="B6AFBD"/>
                </a:solidFill>
                <a:latin typeface="Helvetica Neue"/>
                <a:ea typeface="Helvetica Neue"/>
                <a:cs typeface="Helvetica Neue"/>
              </a:defRPr>
            </a:pPr>
            <a:r>
              <a:rPr sz="1350" b="0">
                <a:solidFill>
                  <a:srgbClr val="B6AFBD"/>
                </a:solidFill>
                <a:latin typeface="Helvetica Neue"/>
                <a:ea typeface="Helvetica Neue"/>
                <a:cs typeface="Helvetica Neue"/>
              </a:rPr>
              <a:t>Months 5–6: retention and contribution review</a:t>
            </a:r>
          </a:p>
        </p:txBody>
      </p:sp>
    </p:spTree>
    <p:extLst>
      <p:ext uri="{BB962C8B-B14F-4D97-AF65-F5344CB8AC3E}">
        <p14:creationId xmlns:p14="http://schemas.microsoft.com/office/powerpoint/2010/main" val="994092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2026-09-23T19:57:15.8640000Z</dcterms:created>
  <dcterms:modified xsi:type="dcterms:W3CDTF">2026-09-23T19:57:15.8640000Z</dcterms:modified>
</coreProperties>
</file>